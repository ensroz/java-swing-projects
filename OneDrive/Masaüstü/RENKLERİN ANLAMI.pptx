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comments/comment1.xml" ContentType="application/vnd.openxmlformats-officedocument.presentationml.comments+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 id="2147484008" r:id="rId2"/>
    <p:sldMasterId id="2147484020" r:id="rId3"/>
    <p:sldMasterId id="2147484032" r:id="rId4"/>
    <p:sldMasterId id="2147484044" r:id="rId5"/>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nsar" initials="E" lastIdx="1" clrIdx="0">
    <p:extLst>
      <p:ext uri="{19B8F6BF-5375-455C-9EA6-DF929625EA0E}">
        <p15:presenceInfo xmlns:p15="http://schemas.microsoft.com/office/powerpoint/2012/main" userId="5ec30ffa0046eb9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1BC"/>
    <a:srgbClr val="9B17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14T14:18:19.822" idx="1">
    <p:pos x="10" y="10"/>
    <p:text/>
    <p:extLst>
      <p:ext uri="{C676402C-5697-4E1C-873F-D02D1690AC5C}">
        <p15:threadingInfo xmlns:p15="http://schemas.microsoft.com/office/powerpoint/2012/main" timeZoneBias="-1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F5068D-4D11-4538-9302-475EF2F27A10}" type="datetimeFigureOut">
              <a:rPr lang="tr-TR" smtClean="0"/>
              <a:t>14.03.2025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A8CB7C-963A-4A9F-8B98-D8786F38B035}" type="slidenum">
              <a:rPr lang="tr-TR" smtClean="0"/>
              <a:t>‹#›</a:t>
            </a:fld>
            <a:endParaRPr lang="tr-TR"/>
          </a:p>
        </p:txBody>
      </p:sp>
    </p:spTree>
    <p:extLst>
      <p:ext uri="{BB962C8B-B14F-4D97-AF65-F5344CB8AC3E}">
        <p14:creationId xmlns:p14="http://schemas.microsoft.com/office/powerpoint/2010/main" val="3759498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tr-TR" smtClean="0"/>
              <a:t>Asıl başlık stili için tıklatın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2692397" y="5037663"/>
            <a:ext cx="5214635" cy="279400"/>
          </a:xfrm>
        </p:spPr>
        <p:txBody>
          <a:bodyPr/>
          <a:lstStyle/>
          <a:p>
            <a:endParaRPr lang="tr-TR"/>
          </a:p>
        </p:txBody>
      </p:sp>
      <p:sp>
        <p:nvSpPr>
          <p:cNvPr id="6" name="Slide Number Placeholder 5"/>
          <p:cNvSpPr>
            <a:spLocks noGrp="1"/>
          </p:cNvSpPr>
          <p:nvPr>
            <p:ph type="sldNum" sz="quarter" idx="12"/>
          </p:nvPr>
        </p:nvSpPr>
        <p:spPr>
          <a:xfrm>
            <a:off x="8956900" y="5037663"/>
            <a:ext cx="551167" cy="279400"/>
          </a:xfrm>
        </p:spPr>
        <p:txBody>
          <a:bodyPr/>
          <a:lstStyle/>
          <a:p>
            <a:fld id="{A135D058-B2C7-4A71-ABEE-6BEEED30E975}" type="slidenum">
              <a:rPr lang="tr-TR" smtClean="0"/>
              <a:t>‹#›</a:t>
            </a:fld>
            <a:endParaRPr lang="tr-T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5260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35940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0624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052041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534ECE91-9A35-4CBB-8780-179A4D5E51B1}" type="datetimeFigureOut">
              <a:rPr lang="tr-TR" smtClean="0"/>
              <a:t>14.03.2025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A135D058-B2C7-4A71-ABEE-6BEEED30E975}" type="slidenum">
              <a:rPr lang="tr-TR" smtClean="0"/>
              <a:t>‹#›</a:t>
            </a:fld>
            <a:endParaRPr lang="tr-T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081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534ECE91-9A35-4CBB-8780-179A4D5E51B1}" type="datetimeFigureOut">
              <a:rPr lang="tr-TR" smtClean="0"/>
              <a:t>14.03.2025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135D058-B2C7-4A71-ABEE-6BEEED30E975}"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6271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4ECE91-9A35-4CBB-8780-179A4D5E51B1}" type="datetimeFigureOut">
              <a:rPr lang="tr-TR" smtClean="0"/>
              <a:t>14.03.2025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636190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tr-TR" smtClean="0"/>
              <a:t>Asıl başlık stili için tıklatın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212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tr-TR" smtClean="0"/>
              <a:t>Asıl başlık stili için tıklatın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451235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tr-TR" smtClean="0"/>
              <a:t>Asıl başlık stili için tıklatın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57987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4110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tr-TR" smtClean="0"/>
              <a:t>Asıl başlık stili için tıklatın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smtClean="0"/>
              <a:t>Asıl metin stillerini düzenle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68115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tr-TR" smtClean="0"/>
              <a:t>Asıl başlık stili için tıklatın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5657954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tr-TR" smtClean="0"/>
              <a:t>Asıl başlık stili için tıklatın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7134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tr-TR" smtClean="0"/>
              <a:t>Asıl başlık stili için tıklatın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0791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86421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22789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7580618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6546387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991074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10588752" cy="320040"/>
          </a:xfrm>
        </p:spPr>
        <p:txBody>
          <a:bodyPr/>
          <a:lstStyle/>
          <a:p>
            <a:endParaRPr lang="tr-TR"/>
          </a:p>
        </p:txBody>
      </p:sp>
      <p:sp>
        <p:nvSpPr>
          <p:cNvPr id="7" name="Slide Number Placeholder 6"/>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83466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5125305" y="1488985"/>
            <a:ext cx="6264350" cy="1696853"/>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5118447" y="4351687"/>
            <a:ext cx="6265588" cy="1704060"/>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8" name="Footer Placeholder 7"/>
          <p:cNvSpPr>
            <a:spLocks noGrp="1"/>
          </p:cNvSpPr>
          <p:nvPr>
            <p:ph type="ftr" sz="quarter" idx="11"/>
          </p:nvPr>
        </p:nvSpPr>
        <p:spPr>
          <a:xfrm>
            <a:off x="804672" y="6227064"/>
            <a:ext cx="10588752" cy="320040"/>
          </a:xfrm>
        </p:spPr>
        <p:txBody>
          <a:bodyPr/>
          <a:lstStyle/>
          <a:p>
            <a:endParaRPr lang="tr-TR"/>
          </a:p>
        </p:txBody>
      </p:sp>
      <p:sp>
        <p:nvSpPr>
          <p:cNvPr id="9" name="Slide Number Placeholder 8"/>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1763361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534ECE91-9A35-4CBB-8780-179A4D5E51B1}" type="datetimeFigureOut">
              <a:rPr lang="tr-TR" smtClean="0"/>
              <a:t>14.03.2025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4246123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3" name="Footer Placeholder 2"/>
          <p:cNvSpPr>
            <a:spLocks noGrp="1"/>
          </p:cNvSpPr>
          <p:nvPr>
            <p:ph type="ftr" sz="quarter" idx="11"/>
          </p:nvPr>
        </p:nvSpPr>
        <p:spPr>
          <a:xfrm>
            <a:off x="804672" y="6227064"/>
            <a:ext cx="10588752" cy="320040"/>
          </a:xfrm>
        </p:spPr>
        <p:txBody>
          <a:bodyPr/>
          <a:lstStyle/>
          <a:p>
            <a:endParaRPr lang="tr-TR"/>
          </a:p>
        </p:txBody>
      </p:sp>
      <p:sp>
        <p:nvSpPr>
          <p:cNvPr id="4" name="Slide Number Placeholder 3"/>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4619002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1156362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5942203" cy="320040"/>
          </a:xfrm>
        </p:spPr>
        <p:txBody>
          <a:bodyPr/>
          <a:lstStyle/>
          <a:p>
            <a:endParaRPr lang="tr-TR"/>
          </a:p>
        </p:txBody>
      </p:sp>
      <p:sp>
        <p:nvSpPr>
          <p:cNvPr id="7" name="Slide Number Placeholder 6"/>
          <p:cNvSpPr>
            <a:spLocks noGrp="1"/>
          </p:cNvSpPr>
          <p:nvPr>
            <p:ph type="sldNum" sz="quarter" idx="12"/>
          </p:nvPr>
        </p:nvSpPr>
        <p:spPr>
          <a:xfrm>
            <a:off x="5828377"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4234035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744241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41590903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846222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0657384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783388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10588752" cy="320040"/>
          </a:xfrm>
        </p:spPr>
        <p:txBody>
          <a:bodyPr/>
          <a:lstStyle/>
          <a:p>
            <a:endParaRPr lang="tr-TR"/>
          </a:p>
        </p:txBody>
      </p:sp>
      <p:sp>
        <p:nvSpPr>
          <p:cNvPr id="7" name="Slide Number Placeholder 6"/>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9003539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5125305" y="1488985"/>
            <a:ext cx="6264350" cy="1696853"/>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5118447" y="4351687"/>
            <a:ext cx="6265588" cy="1704060"/>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8" name="Footer Placeholder 7"/>
          <p:cNvSpPr>
            <a:spLocks noGrp="1"/>
          </p:cNvSpPr>
          <p:nvPr>
            <p:ph type="ftr" sz="quarter" idx="11"/>
          </p:nvPr>
        </p:nvSpPr>
        <p:spPr>
          <a:xfrm>
            <a:off x="804672" y="6227064"/>
            <a:ext cx="10588752" cy="320040"/>
          </a:xfrm>
        </p:spPr>
        <p:txBody>
          <a:bodyPr/>
          <a:lstStyle/>
          <a:p>
            <a:endParaRPr lang="tr-TR"/>
          </a:p>
        </p:txBody>
      </p:sp>
      <p:sp>
        <p:nvSpPr>
          <p:cNvPr id="9" name="Slide Number Placeholder 8"/>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33964374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534ECE91-9A35-4CBB-8780-179A4D5E51B1}" type="datetimeFigureOut">
              <a:rPr lang="tr-TR" smtClean="0"/>
              <a:t>14.03.2025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2771490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3" name="Footer Placeholder 2"/>
          <p:cNvSpPr>
            <a:spLocks noGrp="1"/>
          </p:cNvSpPr>
          <p:nvPr>
            <p:ph type="ftr" sz="quarter" idx="11"/>
          </p:nvPr>
        </p:nvSpPr>
        <p:spPr>
          <a:xfrm>
            <a:off x="804672" y="6227064"/>
            <a:ext cx="10588752" cy="320040"/>
          </a:xfrm>
        </p:spPr>
        <p:txBody>
          <a:bodyPr/>
          <a:lstStyle/>
          <a:p>
            <a:endParaRPr lang="tr-TR"/>
          </a:p>
        </p:txBody>
      </p:sp>
      <p:sp>
        <p:nvSpPr>
          <p:cNvPr id="4" name="Slide Number Placeholder 3"/>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2462156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6800122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5942203" cy="320040"/>
          </a:xfrm>
        </p:spPr>
        <p:txBody>
          <a:bodyPr/>
          <a:lstStyle/>
          <a:p>
            <a:endParaRPr lang="tr-TR"/>
          </a:p>
        </p:txBody>
      </p:sp>
      <p:sp>
        <p:nvSpPr>
          <p:cNvPr id="7" name="Slide Number Placeholder 6"/>
          <p:cNvSpPr>
            <a:spLocks noGrp="1"/>
          </p:cNvSpPr>
          <p:nvPr>
            <p:ph type="sldNum" sz="quarter" idx="12"/>
          </p:nvPr>
        </p:nvSpPr>
        <p:spPr>
          <a:xfrm>
            <a:off x="5828377"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7196036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40826867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6217656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9525013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4382049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7614246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10588752" cy="320040"/>
          </a:xfrm>
        </p:spPr>
        <p:txBody>
          <a:bodyPr/>
          <a:lstStyle/>
          <a:p>
            <a:endParaRPr lang="tr-TR"/>
          </a:p>
        </p:txBody>
      </p:sp>
      <p:sp>
        <p:nvSpPr>
          <p:cNvPr id="7" name="Slide Number Placeholder 6"/>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0924648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5125305" y="1488985"/>
            <a:ext cx="6264350" cy="1696853"/>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5118447" y="4351687"/>
            <a:ext cx="6265588" cy="1704060"/>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8" name="Footer Placeholder 7"/>
          <p:cNvSpPr>
            <a:spLocks noGrp="1"/>
          </p:cNvSpPr>
          <p:nvPr>
            <p:ph type="ftr" sz="quarter" idx="11"/>
          </p:nvPr>
        </p:nvSpPr>
        <p:spPr>
          <a:xfrm>
            <a:off x="804672" y="6227064"/>
            <a:ext cx="10588752" cy="320040"/>
          </a:xfrm>
        </p:spPr>
        <p:txBody>
          <a:bodyPr/>
          <a:lstStyle/>
          <a:p>
            <a:endParaRPr lang="tr-TR"/>
          </a:p>
        </p:txBody>
      </p:sp>
      <p:sp>
        <p:nvSpPr>
          <p:cNvPr id="9" name="Slide Number Placeholder 8"/>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8894571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534ECE91-9A35-4CBB-8780-179A4D5E51B1}" type="datetimeFigureOut">
              <a:rPr lang="tr-TR" smtClean="0"/>
              <a:t>14.03.2025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9596894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3" name="Footer Placeholder 2"/>
          <p:cNvSpPr>
            <a:spLocks noGrp="1"/>
          </p:cNvSpPr>
          <p:nvPr>
            <p:ph type="ftr" sz="quarter" idx="11"/>
          </p:nvPr>
        </p:nvSpPr>
        <p:spPr>
          <a:xfrm>
            <a:off x="804672" y="6227064"/>
            <a:ext cx="10588752" cy="320040"/>
          </a:xfrm>
        </p:spPr>
        <p:txBody>
          <a:bodyPr/>
          <a:lstStyle/>
          <a:p>
            <a:endParaRPr lang="tr-TR"/>
          </a:p>
        </p:txBody>
      </p:sp>
      <p:sp>
        <p:nvSpPr>
          <p:cNvPr id="4" name="Slide Number Placeholder 3"/>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6357818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7114547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5942203" cy="320040"/>
          </a:xfrm>
        </p:spPr>
        <p:txBody>
          <a:bodyPr/>
          <a:lstStyle/>
          <a:p>
            <a:endParaRPr lang="tr-TR"/>
          </a:p>
        </p:txBody>
      </p:sp>
      <p:sp>
        <p:nvSpPr>
          <p:cNvPr id="7" name="Slide Number Placeholder 6"/>
          <p:cNvSpPr>
            <a:spLocks noGrp="1"/>
          </p:cNvSpPr>
          <p:nvPr>
            <p:ph type="sldNum" sz="quarter" idx="12"/>
          </p:nvPr>
        </p:nvSpPr>
        <p:spPr>
          <a:xfrm>
            <a:off x="5828377"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9118061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09435669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5597862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tr-TR" smtClean="0"/>
              <a:t>Asıl başlık stili için tıklatın</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5609999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9674730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6720493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10588752" cy="320040"/>
          </a:xfrm>
        </p:spPr>
        <p:txBody>
          <a:bodyPr/>
          <a:lstStyle/>
          <a:p>
            <a:endParaRPr lang="tr-TR"/>
          </a:p>
        </p:txBody>
      </p:sp>
      <p:sp>
        <p:nvSpPr>
          <p:cNvPr id="7" name="Slide Number Placeholder 6"/>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8756810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Content Placeholder 3"/>
          <p:cNvSpPr>
            <a:spLocks noGrp="1"/>
          </p:cNvSpPr>
          <p:nvPr>
            <p:ph sz="half" idx="2"/>
          </p:nvPr>
        </p:nvSpPr>
        <p:spPr>
          <a:xfrm>
            <a:off x="5125305" y="1488985"/>
            <a:ext cx="6264350" cy="1696853"/>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Content Placeholder 5"/>
          <p:cNvSpPr>
            <a:spLocks noGrp="1"/>
          </p:cNvSpPr>
          <p:nvPr>
            <p:ph sz="quarter" idx="4"/>
          </p:nvPr>
        </p:nvSpPr>
        <p:spPr>
          <a:xfrm>
            <a:off x="5118447" y="4351687"/>
            <a:ext cx="6265588" cy="1704060"/>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8" name="Footer Placeholder 7"/>
          <p:cNvSpPr>
            <a:spLocks noGrp="1"/>
          </p:cNvSpPr>
          <p:nvPr>
            <p:ph type="ftr" sz="quarter" idx="11"/>
          </p:nvPr>
        </p:nvSpPr>
        <p:spPr>
          <a:xfrm>
            <a:off x="804672" y="6227064"/>
            <a:ext cx="10588752" cy="320040"/>
          </a:xfrm>
        </p:spPr>
        <p:txBody>
          <a:bodyPr/>
          <a:lstStyle/>
          <a:p>
            <a:endParaRPr lang="tr-TR"/>
          </a:p>
        </p:txBody>
      </p:sp>
      <p:sp>
        <p:nvSpPr>
          <p:cNvPr id="9" name="Slide Number Placeholder 8"/>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4370630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534ECE91-9A35-4CBB-8780-179A4D5E51B1}" type="datetimeFigureOut">
              <a:rPr lang="tr-TR" smtClean="0"/>
              <a:t>14.03.2025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95142907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3" name="Footer Placeholder 2"/>
          <p:cNvSpPr>
            <a:spLocks noGrp="1"/>
          </p:cNvSpPr>
          <p:nvPr>
            <p:ph type="ftr" sz="quarter" idx="11"/>
          </p:nvPr>
        </p:nvSpPr>
        <p:spPr>
          <a:xfrm>
            <a:off x="804672" y="6227064"/>
            <a:ext cx="10588752" cy="320040"/>
          </a:xfrm>
        </p:spPr>
        <p:txBody>
          <a:bodyPr/>
          <a:lstStyle/>
          <a:p>
            <a:endParaRPr lang="tr-TR"/>
          </a:p>
        </p:txBody>
      </p:sp>
      <p:sp>
        <p:nvSpPr>
          <p:cNvPr id="4" name="Slide Number Placeholder 3"/>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28641320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tr-TR" smtClean="0"/>
              <a:t>Asıl başlık stili için tıklatın</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41792261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tr-TR" smtClean="0"/>
              <a:t>Asıl başlık stili için tıklatın</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Date Placeholder 4"/>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6" name="Footer Placeholder 5"/>
          <p:cNvSpPr>
            <a:spLocks noGrp="1"/>
          </p:cNvSpPr>
          <p:nvPr>
            <p:ph type="ftr" sz="quarter" idx="11"/>
          </p:nvPr>
        </p:nvSpPr>
        <p:spPr>
          <a:xfrm>
            <a:off x="804672" y="6227064"/>
            <a:ext cx="5942203" cy="320040"/>
          </a:xfrm>
        </p:spPr>
        <p:txBody>
          <a:bodyPr/>
          <a:lstStyle/>
          <a:p>
            <a:endParaRPr lang="tr-TR"/>
          </a:p>
        </p:txBody>
      </p:sp>
      <p:sp>
        <p:nvSpPr>
          <p:cNvPr id="7" name="Slide Number Placeholder 6"/>
          <p:cNvSpPr>
            <a:spLocks noGrp="1"/>
          </p:cNvSpPr>
          <p:nvPr>
            <p:ph type="sldNum" sz="quarter" idx="12"/>
          </p:nvPr>
        </p:nvSpPr>
        <p:spPr>
          <a:xfrm>
            <a:off x="5828377"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6017074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185920626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a:xfrm>
            <a:off x="804672" y="320040"/>
            <a:ext cx="3657600" cy="320040"/>
          </a:xfrm>
        </p:spPr>
        <p:txBody>
          <a:bodyPr/>
          <a:lstStyle/>
          <a:p>
            <a:fld id="{534ECE91-9A35-4CBB-8780-179A4D5E51B1}" type="datetimeFigureOut">
              <a:rPr lang="tr-TR" smtClean="0"/>
              <a:t>14.03.2025</a:t>
            </a:fld>
            <a:endParaRPr lang="tr-TR"/>
          </a:p>
        </p:txBody>
      </p:sp>
      <p:sp>
        <p:nvSpPr>
          <p:cNvPr id="5" name="Footer Placeholder 4"/>
          <p:cNvSpPr>
            <a:spLocks noGrp="1"/>
          </p:cNvSpPr>
          <p:nvPr>
            <p:ph type="ftr" sz="quarter" idx="11"/>
          </p:nvPr>
        </p:nvSpPr>
        <p:spPr>
          <a:xfrm>
            <a:off x="804672" y="6227064"/>
            <a:ext cx="10588752" cy="320040"/>
          </a:xfrm>
        </p:spPr>
        <p:txBody>
          <a:bodyPr/>
          <a:lstStyle/>
          <a:p>
            <a:endParaRPr lang="tr-TR"/>
          </a:p>
        </p:txBody>
      </p:sp>
      <p:sp>
        <p:nvSpPr>
          <p:cNvPr id="6" name="Slide Number Placeholder 5"/>
          <p:cNvSpPr>
            <a:spLocks noGrp="1"/>
          </p:cNvSpPr>
          <p:nvPr>
            <p:ph type="sldNum" sz="quarter" idx="12"/>
          </p:nvPr>
        </p:nvSpPr>
        <p:spPr>
          <a:xfrm>
            <a:off x="10469880" y="320040"/>
            <a:ext cx="914400" cy="320040"/>
          </a:xfrm>
        </p:spPr>
        <p:txBody>
          <a:bodyPr/>
          <a:lstStyle/>
          <a:p>
            <a:fld id="{A135D058-B2C7-4A71-ABEE-6BEEED30E975}" type="slidenum">
              <a:rPr lang="tr-TR" smtClean="0"/>
              <a:t>‹#›</a:t>
            </a:fld>
            <a:endParaRPr lang="tr-TR"/>
          </a:p>
        </p:txBody>
      </p:sp>
    </p:spTree>
    <p:extLst>
      <p:ext uri="{BB962C8B-B14F-4D97-AF65-F5344CB8AC3E}">
        <p14:creationId xmlns:p14="http://schemas.microsoft.com/office/powerpoint/2010/main" val="3533282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34ECE91-9A35-4CBB-8780-179A4D5E51B1}" type="datetimeFigureOut">
              <a:rPr lang="tr-TR" smtClean="0"/>
              <a:t>14.03.2025</a:t>
            </a:fld>
            <a:endParaRPr lang="tr-T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tr-T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135D058-B2C7-4A71-ABEE-6BEEED30E975}" type="slidenum">
              <a:rPr lang="tr-TR" smtClean="0"/>
              <a:t>‹#›</a:t>
            </a:fld>
            <a:endParaRPr lang="tr-TR"/>
          </a:p>
        </p:txBody>
      </p:sp>
    </p:spTree>
    <p:extLst>
      <p:ext uri="{BB962C8B-B14F-4D97-AF65-F5344CB8AC3E}">
        <p14:creationId xmlns:p14="http://schemas.microsoft.com/office/powerpoint/2010/main" val="2791013523"/>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534ECE91-9A35-4CBB-8780-179A4D5E51B1}" type="datetimeFigureOut">
              <a:rPr lang="tr-TR" smtClean="0"/>
              <a:t>14.03.2025</a:t>
            </a:fld>
            <a:endParaRPr lang="tr-TR"/>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135D058-B2C7-4A71-ABEE-6BEEED30E975}" type="slidenum">
              <a:rPr lang="tr-TR" smtClean="0"/>
              <a:t>‹#›</a:t>
            </a:fld>
            <a:endParaRPr lang="tr-TR"/>
          </a:p>
        </p:txBody>
      </p:sp>
    </p:spTree>
    <p:extLst>
      <p:ext uri="{BB962C8B-B14F-4D97-AF65-F5344CB8AC3E}">
        <p14:creationId xmlns:p14="http://schemas.microsoft.com/office/powerpoint/2010/main" val="3855133199"/>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534ECE91-9A35-4CBB-8780-179A4D5E51B1}" type="datetimeFigureOut">
              <a:rPr lang="tr-TR" smtClean="0"/>
              <a:t>14.03.2025</a:t>
            </a:fld>
            <a:endParaRPr lang="tr-TR"/>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135D058-B2C7-4A71-ABEE-6BEEED30E975}" type="slidenum">
              <a:rPr lang="tr-TR" smtClean="0"/>
              <a:t>‹#›</a:t>
            </a:fld>
            <a:endParaRPr lang="tr-TR"/>
          </a:p>
        </p:txBody>
      </p:sp>
    </p:spTree>
    <p:extLst>
      <p:ext uri="{BB962C8B-B14F-4D97-AF65-F5344CB8AC3E}">
        <p14:creationId xmlns:p14="http://schemas.microsoft.com/office/powerpoint/2010/main" val="4044996740"/>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534ECE91-9A35-4CBB-8780-179A4D5E51B1}" type="datetimeFigureOut">
              <a:rPr lang="tr-TR" smtClean="0"/>
              <a:t>14.03.2025</a:t>
            </a:fld>
            <a:endParaRPr lang="tr-TR"/>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135D058-B2C7-4A71-ABEE-6BEEED30E975}" type="slidenum">
              <a:rPr lang="tr-TR" smtClean="0"/>
              <a:t>‹#›</a:t>
            </a:fld>
            <a:endParaRPr lang="tr-TR"/>
          </a:p>
        </p:txBody>
      </p:sp>
    </p:spTree>
    <p:extLst>
      <p:ext uri="{BB962C8B-B14F-4D97-AF65-F5344CB8AC3E}">
        <p14:creationId xmlns:p14="http://schemas.microsoft.com/office/powerpoint/2010/main" val="4186008514"/>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534ECE91-9A35-4CBB-8780-179A4D5E51B1}" type="datetimeFigureOut">
              <a:rPr lang="tr-TR" smtClean="0"/>
              <a:t>14.03.2025</a:t>
            </a:fld>
            <a:endParaRPr lang="tr-TR"/>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A135D058-B2C7-4A71-ABEE-6BEEED30E975}" type="slidenum">
              <a:rPr lang="tr-TR" smtClean="0"/>
              <a:t>‹#›</a:t>
            </a:fld>
            <a:endParaRPr lang="tr-TR"/>
          </a:p>
        </p:txBody>
      </p:sp>
    </p:spTree>
    <p:extLst>
      <p:ext uri="{BB962C8B-B14F-4D97-AF65-F5344CB8AC3E}">
        <p14:creationId xmlns:p14="http://schemas.microsoft.com/office/powerpoint/2010/main" val="172528722"/>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43.xml"/><Relationship Id="rId1" Type="http://schemas.openxmlformats.org/officeDocument/2006/relationships/themeOverride" Target="../theme/themeOverride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54.xml"/><Relationship Id="rId1" Type="http://schemas.openxmlformats.org/officeDocument/2006/relationships/themeOverride" Target="../theme/themeOverride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54.xml"/><Relationship Id="rId1" Type="http://schemas.openxmlformats.org/officeDocument/2006/relationships/themeOverride" Target="../theme/themeOverride6.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7.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54.xml"/><Relationship Id="rId1" Type="http://schemas.openxmlformats.org/officeDocument/2006/relationships/themeOverride" Target="../theme/themeOverride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54.xml"/><Relationship Id="rId1" Type="http://schemas.openxmlformats.org/officeDocument/2006/relationships/themeOverride" Target="../theme/themeOverride10.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11.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slideLayout" Target="../slideLayouts/slideLayout54.xml"/><Relationship Id="rId1" Type="http://schemas.openxmlformats.org/officeDocument/2006/relationships/themeOverride" Target="../theme/themeOverride1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1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54.xml"/><Relationship Id="rId1" Type="http://schemas.openxmlformats.org/officeDocument/2006/relationships/themeOverride" Target="../theme/themeOverride14.xml"/><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15.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54.xml"/><Relationship Id="rId1" Type="http://schemas.openxmlformats.org/officeDocument/2006/relationships/themeOverride" Target="../theme/themeOverride16.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cap="none" dirty="0" smtClean="0">
                <a:ln w="0"/>
                <a:solidFill>
                  <a:schemeClr val="tx1"/>
                </a:solidFill>
                <a:effectLst>
                  <a:outerShdw blurRad="38100" dist="19050" dir="2700000" algn="tl" rotWithShape="0">
                    <a:schemeClr val="dk1">
                      <a:alpha val="40000"/>
                    </a:schemeClr>
                  </a:outerShdw>
                </a:effectLst>
              </a:rPr>
              <a:t>RENKLERİN ANLAMI</a:t>
            </a:r>
            <a:br>
              <a:rPr lang="tr-TR" cap="none" dirty="0" smtClean="0">
                <a:ln w="0"/>
                <a:solidFill>
                  <a:schemeClr val="tx1"/>
                </a:solidFill>
                <a:effectLst>
                  <a:outerShdw blurRad="38100" dist="19050" dir="2700000" algn="tl" rotWithShape="0">
                    <a:schemeClr val="dk1">
                      <a:alpha val="40000"/>
                    </a:schemeClr>
                  </a:outerShdw>
                </a:effectLst>
              </a:rPr>
            </a:br>
            <a:r>
              <a:rPr lang="tr-TR" cap="none" dirty="0" smtClean="0">
                <a:ln w="0"/>
                <a:solidFill>
                  <a:schemeClr val="tx1"/>
                </a:solidFill>
                <a:effectLst>
                  <a:outerShdw blurRad="38100" dist="19050" dir="2700000" algn="tl" rotWithShape="0">
                    <a:schemeClr val="dk1">
                      <a:alpha val="40000"/>
                    </a:schemeClr>
                  </a:outerShdw>
                </a:effectLst>
              </a:rPr>
              <a:t/>
            </a:r>
            <a:br>
              <a:rPr lang="tr-TR" cap="none" dirty="0" smtClean="0">
                <a:ln w="0"/>
                <a:solidFill>
                  <a:schemeClr val="tx1"/>
                </a:solidFill>
                <a:effectLst>
                  <a:outerShdw blurRad="38100" dist="19050" dir="2700000" algn="tl" rotWithShape="0">
                    <a:schemeClr val="dk1">
                      <a:alpha val="40000"/>
                    </a:schemeClr>
                  </a:outerShdw>
                </a:effectLst>
              </a:rPr>
            </a:br>
            <a:r>
              <a:rPr lang="tr-TR" cap="none" dirty="0">
                <a:ln w="0"/>
                <a:solidFill>
                  <a:schemeClr val="tx1"/>
                </a:solidFill>
                <a:effectLst>
                  <a:outerShdw blurRad="38100" dist="19050" dir="2700000" algn="tl" rotWithShape="0">
                    <a:schemeClr val="dk1">
                      <a:alpha val="40000"/>
                    </a:schemeClr>
                  </a:outerShdw>
                </a:effectLst>
              </a:rPr>
              <a:t/>
            </a:r>
            <a:br>
              <a:rPr lang="tr-TR" cap="none" dirty="0">
                <a:ln w="0"/>
                <a:solidFill>
                  <a:schemeClr val="tx1"/>
                </a:solidFill>
                <a:effectLst>
                  <a:outerShdw blurRad="38100" dist="19050" dir="2700000" algn="tl" rotWithShape="0">
                    <a:schemeClr val="dk1">
                      <a:alpha val="40000"/>
                    </a:schemeClr>
                  </a:outerShdw>
                </a:effectLst>
              </a:rPr>
            </a:br>
            <a:endParaRPr lang="tr-TR" sz="5400" dirty="0">
              <a:solidFill>
                <a:schemeClr val="tx1"/>
              </a:solidFill>
            </a:endParaRPr>
          </a:p>
        </p:txBody>
      </p:sp>
      <p:sp>
        <p:nvSpPr>
          <p:cNvPr id="4" name="Metin Yer Tutucusu 3"/>
          <p:cNvSpPr>
            <a:spLocks noGrp="1"/>
          </p:cNvSpPr>
          <p:nvPr>
            <p:ph type="body" idx="1"/>
          </p:nvPr>
        </p:nvSpPr>
        <p:spPr/>
        <p:txBody>
          <a:bodyPr>
            <a:normAutofit fontScale="92500" lnSpcReduction="10000"/>
          </a:bodyPr>
          <a:lstStyle/>
          <a:p>
            <a:r>
              <a:rPr lang="tr-TR" dirty="0" smtClean="0"/>
              <a:t>Ensar Öztürk </a:t>
            </a:r>
          </a:p>
          <a:p>
            <a:r>
              <a:rPr lang="tr-TR" dirty="0" smtClean="0"/>
              <a:t>No:2416501082</a:t>
            </a:r>
          </a:p>
          <a:p>
            <a:endParaRPr lang="tr-TR" dirty="0"/>
          </a:p>
        </p:txBody>
      </p:sp>
    </p:spTree>
    <p:extLst>
      <p:ext uri="{BB962C8B-B14F-4D97-AF65-F5344CB8AC3E}">
        <p14:creationId xmlns:p14="http://schemas.microsoft.com/office/powerpoint/2010/main" val="35445013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5" name="Unvan 4"/>
          <p:cNvSpPr>
            <a:spLocks noGrp="1"/>
          </p:cNvSpPr>
          <p:nvPr>
            <p:ph type="ctrTitle"/>
          </p:nvPr>
        </p:nvSpPr>
        <p:spPr>
          <a:xfrm>
            <a:off x="1605232" y="-494440"/>
            <a:ext cx="8679915" cy="1707224"/>
          </a:xfrm>
        </p:spPr>
        <p:txBody>
          <a:bodyPr>
            <a:normAutofit/>
          </a:bodyPr>
          <a:lstStyle/>
          <a:p>
            <a:r>
              <a:rPr lang="tr-TR" sz="7200" dirty="0" smtClean="0">
                <a:solidFill>
                  <a:srgbClr val="FF0000"/>
                </a:solidFill>
                <a:latin typeface="Calibri" panose="020F0502020204030204" pitchFamily="34" charset="0"/>
                <a:ea typeface="Calibri" panose="020F0502020204030204" pitchFamily="34" charset="0"/>
                <a:cs typeface="Calibri" panose="020F0502020204030204" pitchFamily="34" charset="0"/>
              </a:rPr>
              <a:t>KIRMIZI</a:t>
            </a:r>
            <a:endParaRPr lang="tr-TR" sz="72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Metin kutusu 13"/>
          <p:cNvSpPr txBox="1"/>
          <p:nvPr/>
        </p:nvSpPr>
        <p:spPr>
          <a:xfrm>
            <a:off x="1684422" y="1212784"/>
            <a:ext cx="8874492" cy="369332"/>
          </a:xfrm>
          <a:prstGeom prst="rect">
            <a:avLst/>
          </a:prstGeom>
          <a:noFill/>
        </p:spPr>
        <p:txBody>
          <a:bodyPr wrap="square" rtlCol="0">
            <a:spAutoFit/>
          </a:bodyPr>
          <a:lstStyle/>
          <a:p>
            <a:r>
              <a:rPr lang="tr-TR" b="1" dirty="0" smtClean="0"/>
              <a:t>Pozitif </a:t>
            </a:r>
            <a:r>
              <a:rPr lang="tr-TR" b="1" dirty="0" err="1" smtClean="0"/>
              <a:t>etkisi:</a:t>
            </a:r>
            <a:r>
              <a:rPr lang="tr-TR" dirty="0" err="1" smtClean="0"/>
              <a:t>Aşk,romantizm,cesaret,şefkat,mutluluk</a:t>
            </a:r>
            <a:endParaRPr lang="tr-TR" dirty="0"/>
          </a:p>
        </p:txBody>
      </p:sp>
      <p:sp>
        <p:nvSpPr>
          <p:cNvPr id="15" name="Metin kutusu 14"/>
          <p:cNvSpPr txBox="1"/>
          <p:nvPr/>
        </p:nvSpPr>
        <p:spPr>
          <a:xfrm>
            <a:off x="1684422" y="1501541"/>
            <a:ext cx="8807115" cy="369332"/>
          </a:xfrm>
          <a:prstGeom prst="rect">
            <a:avLst/>
          </a:prstGeom>
          <a:noFill/>
        </p:spPr>
        <p:txBody>
          <a:bodyPr wrap="square" rtlCol="0">
            <a:spAutoFit/>
          </a:bodyPr>
          <a:lstStyle/>
          <a:p>
            <a:r>
              <a:rPr lang="tr-TR" b="1" dirty="0" smtClean="0"/>
              <a:t>Negatif </a:t>
            </a:r>
            <a:r>
              <a:rPr lang="tr-TR" b="1" dirty="0" err="1" smtClean="0"/>
              <a:t>etkisi:</a:t>
            </a:r>
            <a:r>
              <a:rPr lang="tr-TR" dirty="0" err="1" smtClean="0"/>
              <a:t>Öfke,tehlike,agresiflik,kıskançlık,baskınlık</a:t>
            </a:r>
            <a:endParaRPr lang="tr-TR" dirty="0"/>
          </a:p>
        </p:txBody>
      </p:sp>
      <p:sp>
        <p:nvSpPr>
          <p:cNvPr id="17" name="Metin kutusu 16"/>
          <p:cNvSpPr txBox="1"/>
          <p:nvPr/>
        </p:nvSpPr>
        <p:spPr>
          <a:xfrm>
            <a:off x="1605232" y="2304668"/>
            <a:ext cx="8886304" cy="2031325"/>
          </a:xfrm>
          <a:prstGeom prst="rect">
            <a:avLst/>
          </a:prstGeom>
          <a:noFill/>
        </p:spPr>
        <p:txBody>
          <a:bodyPr wrap="square" rtlCol="0">
            <a:spAutoFit/>
          </a:bodyPr>
          <a:lstStyle/>
          <a:p>
            <a:r>
              <a:rPr lang="tr-TR" b="1" dirty="0" smtClean="0"/>
              <a:t>Sembolizm </a:t>
            </a:r>
            <a:r>
              <a:rPr lang="tr-TR" b="1" dirty="0" err="1" smtClean="0"/>
              <a:t>anlamı:</a:t>
            </a:r>
            <a:r>
              <a:rPr lang="tr-TR" dirty="0" err="1" smtClean="0"/>
              <a:t>Sıcak</a:t>
            </a:r>
            <a:r>
              <a:rPr lang="tr-TR" dirty="0"/>
              <a:t>, ateş, kan, şehvet, aşk, dinamizm, güç, heyecan, azim ve agresiflik gibi kavramları simgeler.</a:t>
            </a:r>
            <a:r>
              <a:rPr lang="tr-TR" dirty="0" smtClean="0"/>
              <a:t> </a:t>
            </a:r>
          </a:p>
          <a:p>
            <a:r>
              <a:rPr lang="tr-TR" b="1" dirty="0" smtClean="0"/>
              <a:t>Psikolojik </a:t>
            </a:r>
            <a:r>
              <a:rPr lang="tr-TR" b="1" dirty="0" err="1" smtClean="0"/>
              <a:t>anlamı:</a:t>
            </a:r>
            <a:r>
              <a:rPr lang="tr-TR" dirty="0" err="1"/>
              <a:t>duygusal</a:t>
            </a:r>
            <a:r>
              <a:rPr lang="tr-TR" dirty="0"/>
              <a:t> yoğunluğun ve gücün sembolüdür. Bu renk, hareketlilik, tutku, heyecan ve enerjiyi ifade eder. Kırmızı renk ayrıca, dikkat çekici ve göz alıcı olması nedeniyle, ilgiyi ve odaklanmayı artırır</a:t>
            </a:r>
            <a:r>
              <a:rPr lang="tr-TR" dirty="0" smtClean="0"/>
              <a:t>.</a:t>
            </a:r>
          </a:p>
          <a:p>
            <a:endParaRPr lang="tr-TR" dirty="0" smtClean="0"/>
          </a:p>
          <a:p>
            <a:endParaRPr lang="tr-TR" dirty="0"/>
          </a:p>
        </p:txBody>
      </p:sp>
      <p:sp>
        <p:nvSpPr>
          <p:cNvPr id="19" name="Metin kutusu 18"/>
          <p:cNvSpPr txBox="1"/>
          <p:nvPr/>
        </p:nvSpPr>
        <p:spPr>
          <a:xfrm>
            <a:off x="1605232" y="1984920"/>
            <a:ext cx="8874492" cy="369332"/>
          </a:xfrm>
          <a:prstGeom prst="rect">
            <a:avLst/>
          </a:prstGeom>
          <a:noFill/>
        </p:spPr>
        <p:txBody>
          <a:bodyPr wrap="square" rtlCol="0">
            <a:spAutoFit/>
          </a:bodyPr>
          <a:lstStyle/>
          <a:p>
            <a:r>
              <a:rPr lang="tr-TR" b="1" dirty="0" smtClean="0"/>
              <a:t>Kozmetik </a:t>
            </a:r>
            <a:r>
              <a:rPr lang="tr-TR" b="1" dirty="0" err="1" smtClean="0"/>
              <a:t>anlamı:</a:t>
            </a:r>
            <a:r>
              <a:rPr lang="tr-TR" dirty="0" err="1" smtClean="0"/>
              <a:t>Ürünlerin</a:t>
            </a:r>
            <a:r>
              <a:rPr lang="tr-TR" dirty="0" smtClean="0"/>
              <a:t> %70’in kimyasal içerdiğini gösterir.</a:t>
            </a:r>
            <a:endParaRPr lang="tr-TR" dirty="0"/>
          </a:p>
        </p:txBody>
      </p:sp>
    </p:spTree>
    <p:extLst>
      <p:ext uri="{BB962C8B-B14F-4D97-AF65-F5344CB8AC3E}">
        <p14:creationId xmlns:p14="http://schemas.microsoft.com/office/powerpoint/2010/main" val="3879299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tr-TR" dirty="0" smtClean="0">
                <a:solidFill>
                  <a:schemeClr val="bg1"/>
                </a:solidFill>
              </a:rPr>
              <a:t>KIRMIZI RENGİNİ KULLANAN POPÜLER FİRMALAR</a:t>
            </a:r>
            <a:endParaRPr lang="tr-TR" dirty="0">
              <a:solidFill>
                <a:schemeClr val="bg1"/>
              </a:solidFill>
            </a:endParaRPr>
          </a:p>
        </p:txBody>
      </p:sp>
      <p:sp>
        <p:nvSpPr>
          <p:cNvPr id="5" name="İçerik Yer Tutucusu 4"/>
          <p:cNvSpPr>
            <a:spLocks noGrp="1"/>
          </p:cNvSpPr>
          <p:nvPr>
            <p:ph sz="half" idx="1"/>
          </p:nvPr>
        </p:nvSpPr>
        <p:spPr>
          <a:xfrm>
            <a:off x="5120876" y="98512"/>
            <a:ext cx="6269591" cy="3106082"/>
          </a:xfrm>
        </p:spPr>
        <p:txBody>
          <a:bodyPr>
            <a:normAutofit fontScale="62500" lnSpcReduction="20000"/>
          </a:bodyPr>
          <a:lstStyle/>
          <a:p>
            <a:r>
              <a:rPr lang="tr-TR" sz="2600" b="1" dirty="0"/>
              <a:t>Coca-Cola</a:t>
            </a:r>
            <a:endParaRPr lang="tr-TR" sz="2600" dirty="0"/>
          </a:p>
          <a:p>
            <a:r>
              <a:rPr lang="tr-TR" sz="2600" b="1" dirty="0"/>
              <a:t>Renk Kullanımı</a:t>
            </a:r>
            <a:r>
              <a:rPr lang="tr-TR" sz="2600" dirty="0"/>
              <a:t>: Coca-Cola, logosunda, şişelerinde ve reklamlarında kırmızı rengi yaygın olarak kullanır. Şirketin </a:t>
            </a:r>
            <a:r>
              <a:rPr lang="tr-TR" sz="2600" dirty="0" err="1"/>
              <a:t>ikonik</a:t>
            </a:r>
            <a:r>
              <a:rPr lang="tr-TR" sz="2600" dirty="0"/>
              <a:t> kırmızı renk, tüm dünyada tanınan bir görsel sembol haline gelmiştir.</a:t>
            </a:r>
          </a:p>
          <a:p>
            <a:r>
              <a:rPr lang="tr-TR" sz="2600" b="1" dirty="0"/>
              <a:t>Anlamı</a:t>
            </a:r>
            <a:r>
              <a:rPr lang="tr-TR" sz="2600" dirty="0"/>
              <a:t>: Kırmızı, Coca-Cola'nın canlılık, tutku ve enerji simgesi olarak seçilmiştir. Aynı zamanda iştah açıcı bir etki yaratır ve markanın coşkulu, neşeli ve heyecan verici doğasını yansıtır. Kırmızı renk, tüketicilerin markaya karşı sıcak bir bağ hissetmesine ve marka ile olumlu bir duygusal ilişki kurmasına yardımcı olur.</a:t>
            </a:r>
          </a:p>
          <a:p>
            <a:pPr marL="0" indent="0">
              <a:buNone/>
            </a:pPr>
            <a:endParaRPr lang="tr-TR" dirty="0"/>
          </a:p>
        </p:txBody>
      </p:sp>
      <p:pic>
        <p:nvPicPr>
          <p:cNvPr id="10" name="Resim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65044" y="2824615"/>
            <a:ext cx="1514435" cy="1270908"/>
          </a:xfrm>
          <a:prstGeom prst="rect">
            <a:avLst/>
          </a:prstGeom>
        </p:spPr>
      </p:pic>
      <p:sp>
        <p:nvSpPr>
          <p:cNvPr id="14" name="İçerik Yer Tutucusu 13"/>
          <p:cNvSpPr>
            <a:spLocks noGrp="1"/>
          </p:cNvSpPr>
          <p:nvPr>
            <p:ph sz="half" idx="2"/>
          </p:nvPr>
        </p:nvSpPr>
        <p:spPr>
          <a:xfrm>
            <a:off x="5118447" y="3461060"/>
            <a:ext cx="7073553" cy="2913196"/>
          </a:xfrm>
        </p:spPr>
        <p:txBody>
          <a:bodyPr>
            <a:noAutofit/>
          </a:bodyPr>
          <a:lstStyle/>
          <a:p>
            <a:r>
              <a:rPr lang="tr-TR" sz="1600" b="1" dirty="0" err="1"/>
              <a:t>Target</a:t>
            </a:r>
            <a:endParaRPr lang="tr-TR" sz="1600" dirty="0"/>
          </a:p>
          <a:p>
            <a:r>
              <a:rPr lang="tr-TR" sz="1600" b="1" dirty="0"/>
              <a:t>Renk Kullanımı</a:t>
            </a:r>
            <a:r>
              <a:rPr lang="tr-TR" sz="1600" dirty="0"/>
              <a:t>: </a:t>
            </a:r>
            <a:r>
              <a:rPr lang="tr-TR" sz="1600" dirty="0" err="1"/>
              <a:t>Target</a:t>
            </a:r>
            <a:r>
              <a:rPr lang="tr-TR" sz="1600" dirty="0"/>
              <a:t>, logosunda ve mağaza tasarımlarında kırmızı rengi kullanır. Özellikle mağaza iç mekanlarında ve ürün etiketlerinde de bu renk oldukça belirgindir.</a:t>
            </a:r>
          </a:p>
          <a:p>
            <a:r>
              <a:rPr lang="tr-TR" sz="1600" b="1" dirty="0"/>
              <a:t>Anlamı</a:t>
            </a:r>
            <a:r>
              <a:rPr lang="tr-TR" sz="1600" dirty="0"/>
              <a:t>: Kırmızı, </a:t>
            </a:r>
            <a:r>
              <a:rPr lang="tr-TR" sz="1600" dirty="0" err="1"/>
              <a:t>Target</a:t>
            </a:r>
            <a:r>
              <a:rPr lang="tr-TR" sz="1600" dirty="0"/>
              <a:t> için dikkat çekici ve dinamik bir renk olarak seçilmiştir. Bu renk, markanın enerjik, modern ve müşteri odaklı yaklaşımını simgeler. Aynı zamanda kırmızı, heyecan ve hız hissi yaratırken, alışveriş deneyimini daha cazip ve davetkar kılar.</a:t>
            </a:r>
          </a:p>
        </p:txBody>
      </p:sp>
      <p:pic>
        <p:nvPicPr>
          <p:cNvPr id="15" name="Resim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4183" y="5810497"/>
            <a:ext cx="1147817" cy="1047503"/>
          </a:xfrm>
          <a:prstGeom prst="rect">
            <a:avLst/>
          </a:prstGeom>
        </p:spPr>
      </p:pic>
    </p:spTree>
    <p:extLst>
      <p:ext uri="{BB962C8B-B14F-4D97-AF65-F5344CB8AC3E}">
        <p14:creationId xmlns:p14="http://schemas.microsoft.com/office/powerpoint/2010/main" val="35473653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Unvan 6"/>
          <p:cNvSpPr>
            <a:spLocks noGrp="1"/>
          </p:cNvSpPr>
          <p:nvPr>
            <p:ph type="ctrTitle"/>
          </p:nvPr>
        </p:nvSpPr>
        <p:spPr>
          <a:xfrm>
            <a:off x="1672609" y="0"/>
            <a:ext cx="8679915" cy="1331290"/>
          </a:xfrm>
        </p:spPr>
        <p:txBody>
          <a:bodyPr/>
          <a:lstStyle/>
          <a:p>
            <a:r>
              <a:rPr lang="tr-TR" dirty="0" smtClean="0">
                <a:solidFill>
                  <a:srgbClr val="0070C0"/>
                </a:solidFill>
              </a:rPr>
              <a:t>MAVİ</a:t>
            </a:r>
            <a:endParaRPr lang="tr-TR" dirty="0">
              <a:solidFill>
                <a:srgbClr val="0070C0"/>
              </a:solidFill>
            </a:endParaRPr>
          </a:p>
        </p:txBody>
      </p:sp>
      <p:sp>
        <p:nvSpPr>
          <p:cNvPr id="9" name="Metin kutusu 8"/>
          <p:cNvSpPr txBox="1"/>
          <p:nvPr/>
        </p:nvSpPr>
        <p:spPr>
          <a:xfrm>
            <a:off x="1672609" y="1216404"/>
            <a:ext cx="8855574"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Sakinlik</a:t>
            </a:r>
            <a:r>
              <a:rPr lang="tr-TR" dirty="0" smtClean="0"/>
              <a:t> </a:t>
            </a:r>
            <a:r>
              <a:rPr lang="tr-TR" dirty="0"/>
              <a:t>hissini </a:t>
            </a:r>
            <a:r>
              <a:rPr lang="tr-TR" dirty="0" err="1" smtClean="0"/>
              <a:t>artırır,dinginlik</a:t>
            </a:r>
            <a:r>
              <a:rPr lang="tr-TR" dirty="0" smtClean="0"/>
              <a:t> </a:t>
            </a:r>
            <a:r>
              <a:rPr lang="tr-TR" dirty="0"/>
              <a:t>ve huzur ile </a:t>
            </a:r>
            <a:r>
              <a:rPr lang="tr-TR" dirty="0" smtClean="0"/>
              <a:t>ilişkilendirilir.</a:t>
            </a:r>
          </a:p>
          <a:p>
            <a:r>
              <a:rPr lang="tr-TR" b="1" dirty="0" smtClean="0"/>
              <a:t>Negatif </a:t>
            </a:r>
            <a:r>
              <a:rPr lang="tr-TR" b="1" dirty="0" err="1" smtClean="0"/>
              <a:t>etkisi:</a:t>
            </a:r>
            <a:r>
              <a:rPr lang="tr-TR" dirty="0" err="1" smtClean="0"/>
              <a:t>Duygusal</a:t>
            </a:r>
            <a:r>
              <a:rPr lang="tr-TR" dirty="0" smtClean="0"/>
              <a:t> </a:t>
            </a:r>
            <a:r>
              <a:rPr lang="tr-TR" dirty="0" err="1" smtClean="0"/>
              <a:t>soğukluk,iştah</a:t>
            </a:r>
            <a:r>
              <a:rPr lang="tr-TR" dirty="0" smtClean="0"/>
              <a:t> </a:t>
            </a:r>
            <a:r>
              <a:rPr lang="tr-TR" dirty="0" err="1" smtClean="0"/>
              <a:t>azaltma,soğuk</a:t>
            </a:r>
            <a:r>
              <a:rPr lang="tr-TR" dirty="0" smtClean="0"/>
              <a:t> ve uzak hissettirme</a:t>
            </a:r>
            <a:endParaRPr lang="tr-TR" dirty="0"/>
          </a:p>
        </p:txBody>
      </p:sp>
      <p:sp>
        <p:nvSpPr>
          <p:cNvPr id="11" name="Metin kutusu 10"/>
          <p:cNvSpPr txBox="1"/>
          <p:nvPr/>
        </p:nvSpPr>
        <p:spPr>
          <a:xfrm>
            <a:off x="1584779" y="1937857"/>
            <a:ext cx="8855574" cy="1754326"/>
          </a:xfrm>
          <a:prstGeom prst="rect">
            <a:avLst/>
          </a:prstGeom>
          <a:noFill/>
        </p:spPr>
        <p:txBody>
          <a:bodyPr wrap="square" rtlCol="0">
            <a:spAutoFit/>
          </a:bodyPr>
          <a:lstStyle/>
          <a:p>
            <a:r>
              <a:rPr lang="tr-TR" b="1" dirty="0" smtClean="0"/>
              <a:t>Kozmetik </a:t>
            </a:r>
            <a:r>
              <a:rPr lang="tr-TR" b="1" dirty="0" err="1" smtClean="0"/>
              <a:t>anlamı:</a:t>
            </a:r>
            <a:r>
              <a:rPr lang="tr-TR" dirty="0" err="1" smtClean="0"/>
              <a:t>Saflık</a:t>
            </a:r>
            <a:r>
              <a:rPr lang="tr-TR" dirty="0" smtClean="0"/>
              <a:t>, temizlik ve ferahlık hissi verir. Cilt bakım ürünlerinde mavi ambalajlar genellikle nemlendirici ve yatıştırıcı özellikleri simgeler.</a:t>
            </a:r>
          </a:p>
          <a:p>
            <a:r>
              <a:rPr lang="tr-TR" b="1" dirty="0" smtClean="0"/>
              <a:t>Sembolizm </a:t>
            </a:r>
            <a:r>
              <a:rPr lang="tr-TR" b="1" dirty="0" err="1" smtClean="0"/>
              <a:t>anlamı:</a:t>
            </a:r>
            <a:r>
              <a:rPr lang="tr-TR" dirty="0" err="1" smtClean="0"/>
              <a:t>kültüre</a:t>
            </a:r>
            <a:r>
              <a:rPr lang="tr-TR" dirty="0" smtClean="0"/>
              <a:t> ve bağlama göre değişmekle birlikte genellikle huzur, güven, bilgelik ve sonsuzluk gibi anlamlarla ilişkilendirilir.</a:t>
            </a:r>
          </a:p>
          <a:p>
            <a:r>
              <a:rPr lang="tr-TR" b="1" dirty="0" smtClean="0"/>
              <a:t>Psikolojik </a:t>
            </a:r>
            <a:r>
              <a:rPr lang="tr-TR" b="1" dirty="0" err="1" smtClean="0"/>
              <a:t>anlamı:</a:t>
            </a:r>
            <a:r>
              <a:rPr lang="tr-TR" dirty="0" err="1" smtClean="0"/>
              <a:t>Mavi</a:t>
            </a:r>
            <a:r>
              <a:rPr lang="tr-TR" dirty="0" smtClean="0"/>
              <a:t>, rahatlatıcı ve dingin bir etki yarattığı için stres ve kaygıyı azaltıcı bir renk olarak görülür.</a:t>
            </a:r>
            <a:endParaRPr lang="tr-TR" b="1" dirty="0"/>
          </a:p>
        </p:txBody>
      </p:sp>
    </p:spTree>
    <p:extLst>
      <p:ext uri="{BB962C8B-B14F-4D97-AF65-F5344CB8AC3E}">
        <p14:creationId xmlns:p14="http://schemas.microsoft.com/office/powerpoint/2010/main" val="13231358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normAutofit fontScale="90000"/>
          </a:bodyPr>
          <a:lstStyle/>
          <a:p>
            <a:r>
              <a:rPr lang="tr-TR" dirty="0" smtClean="0"/>
              <a:t>MAVİ RENGİNİ KULLANAN POPÜLER  FİRMALAR</a:t>
            </a:r>
            <a:br>
              <a:rPr lang="tr-TR" dirty="0" smtClean="0"/>
            </a:br>
            <a:endParaRPr lang="tr-TR" dirty="0"/>
          </a:p>
        </p:txBody>
      </p:sp>
      <p:sp>
        <p:nvSpPr>
          <p:cNvPr id="5" name="İçerik Yer Tutucusu 4"/>
          <p:cNvSpPr>
            <a:spLocks noGrp="1"/>
          </p:cNvSpPr>
          <p:nvPr>
            <p:ph sz="half" idx="1"/>
          </p:nvPr>
        </p:nvSpPr>
        <p:spPr>
          <a:xfrm>
            <a:off x="5120878" y="142613"/>
            <a:ext cx="6269591" cy="2936147"/>
          </a:xfrm>
        </p:spPr>
        <p:txBody>
          <a:bodyPr>
            <a:normAutofit/>
          </a:bodyPr>
          <a:lstStyle/>
          <a:p>
            <a:r>
              <a:rPr lang="tr-TR" sz="1700" b="1" dirty="0"/>
              <a:t>1. Facebook (Meta)</a:t>
            </a:r>
          </a:p>
          <a:p>
            <a:r>
              <a:rPr lang="tr-TR" sz="1700" b="1" dirty="0"/>
              <a:t>Mavi Renk Kullanımı:</a:t>
            </a:r>
            <a:r>
              <a:rPr lang="tr-TR" sz="1700" dirty="0"/>
              <a:t> Logosunda ve </a:t>
            </a:r>
            <a:r>
              <a:rPr lang="tr-TR" sz="1700" dirty="0" err="1"/>
              <a:t>arayüz</a:t>
            </a:r>
            <a:r>
              <a:rPr lang="tr-TR" sz="1700" dirty="0"/>
              <a:t> tasarımında</a:t>
            </a:r>
          </a:p>
          <a:p>
            <a:r>
              <a:rPr lang="tr-TR" sz="1700" b="1" dirty="0"/>
              <a:t>Anlamı:</a:t>
            </a:r>
            <a:r>
              <a:rPr lang="tr-TR" sz="1700" dirty="0"/>
              <a:t> Facebook, mavi rengi güven, sadelik ve profesyonellik mesajı vermek için kullanıyor. Aynı zamanda dikkat dağıtmadan uzun süre kullanım sağlamak amacıyla tercih edildiği söylenir.</a:t>
            </a:r>
          </a:p>
          <a:p>
            <a:endParaRPr lang="tr-TR" dirty="0"/>
          </a:p>
        </p:txBody>
      </p:sp>
      <p:sp>
        <p:nvSpPr>
          <p:cNvPr id="6" name="İçerik Yer Tutucusu 5"/>
          <p:cNvSpPr>
            <a:spLocks noGrp="1"/>
          </p:cNvSpPr>
          <p:nvPr>
            <p:ph sz="half" idx="2"/>
          </p:nvPr>
        </p:nvSpPr>
        <p:spPr>
          <a:xfrm>
            <a:off x="5118447" y="3458124"/>
            <a:ext cx="6272022" cy="2383586"/>
          </a:xfrm>
        </p:spPr>
        <p:txBody>
          <a:bodyPr>
            <a:normAutofit/>
          </a:bodyPr>
          <a:lstStyle/>
          <a:p>
            <a:r>
              <a:rPr lang="tr-TR" sz="1600" b="1" dirty="0"/>
              <a:t>2. </a:t>
            </a:r>
            <a:r>
              <a:rPr lang="tr-TR" sz="1600" b="1" dirty="0" err="1"/>
              <a:t>Samsung</a:t>
            </a:r>
            <a:endParaRPr lang="tr-TR" sz="1600" b="1" dirty="0"/>
          </a:p>
          <a:p>
            <a:r>
              <a:rPr lang="tr-TR" sz="1600" b="1" dirty="0"/>
              <a:t>Mavi Renk Kullanımı:</a:t>
            </a:r>
            <a:r>
              <a:rPr lang="tr-TR" sz="1600" dirty="0"/>
              <a:t> Logosunda ve kurumsal kimliğinde</a:t>
            </a:r>
          </a:p>
          <a:p>
            <a:r>
              <a:rPr lang="tr-TR" sz="1600" b="1" dirty="0"/>
              <a:t>Anlamı:</a:t>
            </a:r>
            <a:r>
              <a:rPr lang="tr-TR" sz="1600" dirty="0"/>
              <a:t> </a:t>
            </a:r>
            <a:r>
              <a:rPr lang="tr-TR" sz="1600" dirty="0" err="1"/>
              <a:t>Samsung</a:t>
            </a:r>
            <a:r>
              <a:rPr lang="tr-TR" sz="1600" dirty="0"/>
              <a:t>, mavi rengi yenilikçilik, güvenilirlik ve teknolojiye olan bağlılığı temsil etmek için kullanıyor. Teknoloji firmaları arasında yaygın olan bir tercih</a:t>
            </a:r>
          </a:p>
        </p:txBody>
      </p:sp>
      <p:pic>
        <p:nvPicPr>
          <p:cNvPr id="7" name="Resim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1924" y="1988382"/>
            <a:ext cx="1790700" cy="1488796"/>
          </a:xfrm>
          <a:prstGeom prst="rect">
            <a:avLst/>
          </a:prstGeom>
        </p:spPr>
      </p:pic>
      <p:pic>
        <p:nvPicPr>
          <p:cNvPr id="8" name="Resim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3390" y="5603847"/>
            <a:ext cx="2815697" cy="1122664"/>
          </a:xfrm>
          <a:prstGeom prst="rect">
            <a:avLst/>
          </a:prstGeom>
        </p:spPr>
      </p:pic>
    </p:spTree>
    <p:extLst>
      <p:ext uri="{BB962C8B-B14F-4D97-AF65-F5344CB8AC3E}">
        <p14:creationId xmlns:p14="http://schemas.microsoft.com/office/powerpoint/2010/main" val="3085228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616623" y="-567028"/>
            <a:ext cx="8679915" cy="1748729"/>
          </a:xfrm>
        </p:spPr>
        <p:txBody>
          <a:bodyPr>
            <a:normAutofit/>
          </a:bodyPr>
          <a:lstStyle/>
          <a:p>
            <a:r>
              <a:rPr lang="tr-TR" dirty="0" smtClean="0">
                <a:solidFill>
                  <a:srgbClr val="FFFF00"/>
                </a:solidFill>
              </a:rPr>
              <a:t>Sarı</a:t>
            </a:r>
            <a:endParaRPr lang="tr-TR" dirty="0">
              <a:solidFill>
                <a:srgbClr val="FFFF00"/>
              </a:solidFill>
            </a:endParaRPr>
          </a:p>
        </p:txBody>
      </p:sp>
      <p:sp>
        <p:nvSpPr>
          <p:cNvPr id="7" name="Metin kutusu 6"/>
          <p:cNvSpPr txBox="1"/>
          <p:nvPr/>
        </p:nvSpPr>
        <p:spPr>
          <a:xfrm>
            <a:off x="1616623" y="1181701"/>
            <a:ext cx="8707773" cy="646331"/>
          </a:xfrm>
          <a:prstGeom prst="rect">
            <a:avLst/>
          </a:prstGeom>
          <a:noFill/>
        </p:spPr>
        <p:txBody>
          <a:bodyPr wrap="square" rtlCol="0">
            <a:spAutoFit/>
          </a:bodyPr>
          <a:lstStyle/>
          <a:p>
            <a:r>
              <a:rPr lang="tr-TR" b="1" dirty="0" smtClean="0"/>
              <a:t>Pozitif </a:t>
            </a:r>
            <a:r>
              <a:rPr lang="tr-TR" b="1" dirty="0" err="1" smtClean="0"/>
              <a:t>etkisi:</a:t>
            </a:r>
            <a:r>
              <a:rPr lang="tr-TR" dirty="0" err="1"/>
              <a:t>N</a:t>
            </a:r>
            <a:r>
              <a:rPr lang="tr-TR" dirty="0" err="1" smtClean="0"/>
              <a:t>eşe</a:t>
            </a:r>
            <a:r>
              <a:rPr lang="tr-TR" dirty="0" smtClean="0"/>
              <a:t>, enerji ve iyimserlik ile </a:t>
            </a:r>
            <a:r>
              <a:rPr lang="tr-TR" dirty="0" err="1" smtClean="0"/>
              <a:t>ilişkilendirilir.Yaratıcılığı</a:t>
            </a:r>
            <a:r>
              <a:rPr lang="tr-TR" dirty="0" smtClean="0"/>
              <a:t> artırır</a:t>
            </a:r>
          </a:p>
          <a:p>
            <a:r>
              <a:rPr lang="tr-TR" b="1" dirty="0" smtClean="0"/>
              <a:t>Negatif </a:t>
            </a:r>
            <a:r>
              <a:rPr lang="tr-TR" b="1" dirty="0" err="1" smtClean="0"/>
              <a:t>etkisi:</a:t>
            </a:r>
            <a:r>
              <a:rPr lang="tr-TR" dirty="0" err="1" smtClean="0"/>
              <a:t>Kaygı</a:t>
            </a:r>
            <a:r>
              <a:rPr lang="tr-TR" dirty="0" smtClean="0"/>
              <a:t> ve stresi </a:t>
            </a:r>
            <a:r>
              <a:rPr lang="tr-TR" dirty="0" err="1" smtClean="0"/>
              <a:t>artırır,gözleri</a:t>
            </a:r>
            <a:r>
              <a:rPr lang="tr-TR" dirty="0" smtClean="0"/>
              <a:t> </a:t>
            </a:r>
            <a:r>
              <a:rPr lang="tr-TR" dirty="0" err="1" smtClean="0"/>
              <a:t>yorar,dikkat</a:t>
            </a:r>
            <a:r>
              <a:rPr lang="tr-TR" dirty="0" smtClean="0"/>
              <a:t> dağıtıcı olabilir.</a:t>
            </a:r>
          </a:p>
        </p:txBody>
      </p:sp>
      <p:sp>
        <p:nvSpPr>
          <p:cNvPr id="8" name="Metin kutusu 7"/>
          <p:cNvSpPr txBox="1"/>
          <p:nvPr/>
        </p:nvSpPr>
        <p:spPr>
          <a:xfrm flipH="1">
            <a:off x="1679121" y="2021747"/>
            <a:ext cx="8645275" cy="2862322"/>
          </a:xfrm>
          <a:prstGeom prst="rect">
            <a:avLst/>
          </a:prstGeom>
          <a:noFill/>
        </p:spPr>
        <p:txBody>
          <a:bodyPr wrap="square" rtlCol="0">
            <a:spAutoFit/>
          </a:bodyPr>
          <a:lstStyle/>
          <a:p>
            <a:r>
              <a:rPr lang="tr-TR" b="1" dirty="0" smtClean="0"/>
              <a:t>Kozmetik </a:t>
            </a:r>
            <a:r>
              <a:rPr lang="tr-TR" b="1" dirty="0" err="1" smtClean="0"/>
              <a:t>anlamı:</a:t>
            </a:r>
            <a:r>
              <a:rPr lang="tr-TR" dirty="0" err="1"/>
              <a:t>C</a:t>
            </a:r>
            <a:r>
              <a:rPr lang="tr-TR" dirty="0" err="1" smtClean="0"/>
              <a:t>anlılık</a:t>
            </a:r>
            <a:r>
              <a:rPr lang="tr-TR" dirty="0" smtClean="0"/>
              <a:t>, enerji, neşe ve sıcaklık ile ilişkilendirilir. Doğru kullanıldığında gençlik ve tazelik hissi verirken, aşırı veya yanlış kullanıldığında solgunluk veya yapaylık yaratabilir.</a:t>
            </a:r>
          </a:p>
          <a:p>
            <a:r>
              <a:rPr lang="tr-TR" b="1" dirty="0" smtClean="0"/>
              <a:t>Sembolizm </a:t>
            </a:r>
            <a:r>
              <a:rPr lang="tr-TR" b="1" dirty="0" err="1" smtClean="0"/>
              <a:t>anlamı:</a:t>
            </a:r>
            <a:r>
              <a:rPr lang="tr-TR" dirty="0" err="1" smtClean="0"/>
              <a:t>Genel</a:t>
            </a:r>
            <a:r>
              <a:rPr lang="tr-TR" dirty="0" smtClean="0"/>
              <a:t> olarak neşe, enerji, yaratıcılık ve dikkat çekicilik ile ilişkilendirilirken, bazı durumlarda korkaklık, ihanet veya geçicilik gibi olumsuz anlamlar da taşıyabilir.</a:t>
            </a:r>
          </a:p>
          <a:p>
            <a:r>
              <a:rPr lang="tr-TR" b="1" dirty="0" smtClean="0"/>
              <a:t>Psikolojik </a:t>
            </a:r>
            <a:r>
              <a:rPr lang="tr-TR" b="1" dirty="0" err="1" smtClean="0"/>
              <a:t>anlamı:</a:t>
            </a:r>
            <a:r>
              <a:rPr lang="tr-TR" dirty="0" err="1" smtClean="0"/>
              <a:t>Sarı</a:t>
            </a:r>
            <a:r>
              <a:rPr lang="tr-TR" dirty="0" smtClean="0"/>
              <a:t> renk, psikolojik açıdan </a:t>
            </a:r>
            <a:r>
              <a:rPr lang="tr-TR" dirty="0" err="1" smtClean="0"/>
              <a:t>enerji,umut,sevinç,neşe</a:t>
            </a:r>
            <a:r>
              <a:rPr lang="tr-TR" dirty="0" smtClean="0"/>
              <a:t> ve zihinsel uyanıklık gibi olumlu etkiler yaratırken, bazen gerilim ve huzursuzluk gibi olumsuz etkiler de uyandırabilir.</a:t>
            </a:r>
          </a:p>
          <a:p>
            <a:endParaRPr lang="tr-TR" b="1" dirty="0"/>
          </a:p>
        </p:txBody>
      </p:sp>
    </p:spTree>
    <p:extLst>
      <p:ext uri="{BB962C8B-B14F-4D97-AF65-F5344CB8AC3E}">
        <p14:creationId xmlns:p14="http://schemas.microsoft.com/office/powerpoint/2010/main" val="29128838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dirty="0" smtClean="0"/>
              <a:t>SARI RENGİNİ KULLANAN POPÜLER</a:t>
            </a:r>
            <a:br>
              <a:rPr lang="tr-TR" dirty="0" smtClean="0"/>
            </a:br>
            <a:r>
              <a:rPr lang="tr-TR" dirty="0" smtClean="0"/>
              <a:t> FİRMALAR</a:t>
            </a:r>
            <a:br>
              <a:rPr lang="tr-TR" dirty="0" smtClean="0"/>
            </a:br>
            <a:endParaRPr lang="tr-TR" dirty="0"/>
          </a:p>
        </p:txBody>
      </p:sp>
      <p:sp>
        <p:nvSpPr>
          <p:cNvPr id="4" name="İçerik Yer Tutucusu 3"/>
          <p:cNvSpPr>
            <a:spLocks noGrp="1"/>
          </p:cNvSpPr>
          <p:nvPr>
            <p:ph sz="half" idx="1"/>
          </p:nvPr>
        </p:nvSpPr>
        <p:spPr>
          <a:xfrm>
            <a:off x="4936320" y="120595"/>
            <a:ext cx="6269591" cy="2382651"/>
          </a:xfrm>
        </p:spPr>
        <p:txBody>
          <a:bodyPr>
            <a:noAutofit/>
          </a:bodyPr>
          <a:lstStyle/>
          <a:p>
            <a:r>
              <a:rPr lang="tr-TR" sz="1600" b="1" dirty="0"/>
              <a:t>1. </a:t>
            </a:r>
            <a:r>
              <a:rPr lang="tr-TR" sz="1600" b="1" dirty="0" err="1"/>
              <a:t>McDonald's</a:t>
            </a:r>
            <a:endParaRPr lang="tr-TR" sz="1600" b="1" dirty="0"/>
          </a:p>
          <a:p>
            <a:r>
              <a:rPr lang="tr-TR" sz="1600" b="1" dirty="0"/>
              <a:t>Rengi Kullandığı Yer:</a:t>
            </a:r>
            <a:r>
              <a:rPr lang="tr-TR" sz="1600" dirty="0"/>
              <a:t> </a:t>
            </a:r>
            <a:r>
              <a:rPr lang="tr-TR" sz="1600" dirty="0" err="1"/>
              <a:t>McDonald's</a:t>
            </a:r>
            <a:r>
              <a:rPr lang="tr-TR" sz="1600" dirty="0"/>
              <a:t>, logosunda ve restoran tasarımlarında sarı ve kırmızı renkleri bir arada kullanır. Sarı, canlılık ve neşe hissi verirken, kırmızı ise iştah açıcı ve dikkat çekici bir etki yaratır.</a:t>
            </a:r>
          </a:p>
          <a:p>
            <a:r>
              <a:rPr lang="tr-TR" sz="1600" b="1" dirty="0"/>
              <a:t>Sarı Rengin Anlamı:</a:t>
            </a:r>
            <a:r>
              <a:rPr lang="tr-TR" sz="1600" dirty="0"/>
              <a:t> Sarı, </a:t>
            </a:r>
            <a:r>
              <a:rPr lang="tr-TR" sz="1600" dirty="0" err="1"/>
              <a:t>McDonald's</a:t>
            </a:r>
            <a:r>
              <a:rPr lang="tr-TR" sz="1600" dirty="0"/>
              <a:t> için mutluluk ve enerji simgelerken, restoranlarını daha canlı ve misafirperver bir hale getirir. Ayrıca, sarı tonları müşteriyi daha fazla içeri çekmek ve hızlı bir şekilde hizmet almak için cesaretlendirir</a:t>
            </a:r>
          </a:p>
        </p:txBody>
      </p:sp>
      <p:sp>
        <p:nvSpPr>
          <p:cNvPr id="5" name="İçerik Yer Tutucusu 4"/>
          <p:cNvSpPr>
            <a:spLocks noGrp="1"/>
          </p:cNvSpPr>
          <p:nvPr>
            <p:ph sz="half" idx="2"/>
          </p:nvPr>
        </p:nvSpPr>
        <p:spPr>
          <a:xfrm>
            <a:off x="5118447" y="3968605"/>
            <a:ext cx="6272022" cy="2383586"/>
          </a:xfrm>
        </p:spPr>
        <p:txBody>
          <a:bodyPr>
            <a:normAutofit fontScale="77500" lnSpcReduction="20000"/>
          </a:bodyPr>
          <a:lstStyle/>
          <a:p>
            <a:r>
              <a:rPr lang="tr-TR" b="1" dirty="0"/>
              <a:t>2. IKEA</a:t>
            </a:r>
          </a:p>
          <a:p>
            <a:r>
              <a:rPr lang="tr-TR" sz="2100" b="1" dirty="0"/>
              <a:t>Rengi Kullandığı Yer:</a:t>
            </a:r>
            <a:r>
              <a:rPr lang="tr-TR" sz="2100" dirty="0"/>
              <a:t> IKEA, logosunda ve mağaza tasarımlarında sarı ve mavi renklerini kullanır. Sarı renk, mağazanın iç mekanında da dikkat çekici şekilde yer alır.</a:t>
            </a:r>
          </a:p>
          <a:p>
            <a:r>
              <a:rPr lang="tr-TR" sz="2100" b="1" dirty="0"/>
              <a:t>Sarı Rengin Anlamı:</a:t>
            </a:r>
            <a:r>
              <a:rPr lang="tr-TR" sz="2100" dirty="0"/>
              <a:t> IKEA için sarı, güven ve pozitiflik sembolüdür. Sarı renk, mağazalarda sıcak ve davetkar bir atmosfer yaratırken, müşterilerin alışveriş deneyimini daha eğlenceli ve keyifli hale getirmeye yardımcı olur</a:t>
            </a:r>
          </a:p>
          <a:p>
            <a:endParaRPr lang="tr-TR" dirty="0"/>
          </a:p>
        </p:txBody>
      </p:sp>
      <p:pic>
        <p:nvPicPr>
          <p:cNvPr id="6" name="Resim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66457" y="3050884"/>
            <a:ext cx="1652631" cy="1047634"/>
          </a:xfrm>
          <a:prstGeom prst="rect">
            <a:avLst/>
          </a:prstGeom>
        </p:spPr>
      </p:pic>
      <p:pic>
        <p:nvPicPr>
          <p:cNvPr id="7" name="Resim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36838" y="5972962"/>
            <a:ext cx="2082250" cy="885038"/>
          </a:xfrm>
          <a:prstGeom prst="rect">
            <a:avLst/>
          </a:prstGeom>
        </p:spPr>
      </p:pic>
    </p:spTree>
    <p:extLst>
      <p:ext uri="{BB962C8B-B14F-4D97-AF65-F5344CB8AC3E}">
        <p14:creationId xmlns:p14="http://schemas.microsoft.com/office/powerpoint/2010/main" val="12091985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641790" y="448040"/>
            <a:ext cx="8679915" cy="776753"/>
          </a:xfrm>
        </p:spPr>
        <p:txBody>
          <a:bodyPr>
            <a:normAutofit fontScale="90000"/>
          </a:bodyPr>
          <a:lstStyle/>
          <a:p>
            <a:r>
              <a:rPr lang="tr-TR" dirty="0" smtClean="0">
                <a:solidFill>
                  <a:srgbClr val="00B050"/>
                </a:solidFill>
              </a:rPr>
              <a:t>YEŞİL</a:t>
            </a:r>
            <a:endParaRPr lang="tr-TR" dirty="0">
              <a:solidFill>
                <a:srgbClr val="00B050"/>
              </a:solidFill>
            </a:endParaRPr>
          </a:p>
        </p:txBody>
      </p:sp>
      <p:sp>
        <p:nvSpPr>
          <p:cNvPr id="7" name="Metin kutusu 6"/>
          <p:cNvSpPr txBox="1"/>
          <p:nvPr/>
        </p:nvSpPr>
        <p:spPr>
          <a:xfrm>
            <a:off x="1573332" y="1149292"/>
            <a:ext cx="8816829"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Huzur</a:t>
            </a:r>
            <a:r>
              <a:rPr lang="tr-TR" dirty="0" smtClean="0"/>
              <a:t> ve </a:t>
            </a:r>
            <a:r>
              <a:rPr lang="tr-TR" dirty="0" err="1" smtClean="0"/>
              <a:t>sakinlik,doğa</a:t>
            </a:r>
            <a:r>
              <a:rPr lang="tr-TR" dirty="0" smtClean="0"/>
              <a:t> ve yenilenme </a:t>
            </a:r>
            <a:r>
              <a:rPr lang="tr-TR" dirty="0" err="1" smtClean="0"/>
              <a:t>hissi,denge</a:t>
            </a:r>
            <a:r>
              <a:rPr lang="tr-TR" dirty="0" smtClean="0"/>
              <a:t> ve </a:t>
            </a:r>
            <a:r>
              <a:rPr lang="tr-TR" dirty="0" err="1" smtClean="0"/>
              <a:t>huzur,sağlık</a:t>
            </a:r>
            <a:r>
              <a:rPr lang="tr-TR" dirty="0" smtClean="0"/>
              <a:t>.</a:t>
            </a:r>
          </a:p>
          <a:p>
            <a:r>
              <a:rPr lang="tr-TR" b="1" dirty="0" smtClean="0"/>
              <a:t>Negatif </a:t>
            </a:r>
            <a:r>
              <a:rPr lang="tr-TR" b="1" dirty="0" err="1" smtClean="0"/>
              <a:t>etkisi:</a:t>
            </a:r>
            <a:r>
              <a:rPr lang="tr-TR" dirty="0" err="1" smtClean="0"/>
              <a:t>Aşırı</a:t>
            </a:r>
            <a:r>
              <a:rPr lang="tr-TR" dirty="0" smtClean="0"/>
              <a:t> </a:t>
            </a:r>
            <a:r>
              <a:rPr lang="tr-TR" dirty="0" err="1" smtClean="0"/>
              <a:t>istikrarsızlık,bunalım</a:t>
            </a:r>
            <a:r>
              <a:rPr lang="tr-TR" dirty="0" smtClean="0"/>
              <a:t> </a:t>
            </a:r>
            <a:r>
              <a:rPr lang="tr-TR" dirty="0" err="1" smtClean="0"/>
              <a:t>hissi,yavaş</a:t>
            </a:r>
            <a:r>
              <a:rPr lang="tr-TR" dirty="0" smtClean="0"/>
              <a:t> iletişim ve </a:t>
            </a:r>
            <a:r>
              <a:rPr lang="tr-TR" dirty="0" err="1" smtClean="0"/>
              <a:t>hareket,solgunluk</a:t>
            </a:r>
            <a:endParaRPr lang="tr-TR" dirty="0"/>
          </a:p>
        </p:txBody>
      </p:sp>
      <p:sp>
        <p:nvSpPr>
          <p:cNvPr id="9" name="Metin kutusu 8"/>
          <p:cNvSpPr txBox="1"/>
          <p:nvPr/>
        </p:nvSpPr>
        <p:spPr>
          <a:xfrm>
            <a:off x="1573332" y="1926045"/>
            <a:ext cx="8819282" cy="2308324"/>
          </a:xfrm>
          <a:prstGeom prst="rect">
            <a:avLst/>
          </a:prstGeom>
          <a:noFill/>
        </p:spPr>
        <p:txBody>
          <a:bodyPr wrap="square" rtlCol="0">
            <a:spAutoFit/>
          </a:bodyPr>
          <a:lstStyle/>
          <a:p>
            <a:r>
              <a:rPr lang="tr-TR" b="1" dirty="0" smtClean="0"/>
              <a:t>Kozmetik </a:t>
            </a:r>
            <a:r>
              <a:rPr lang="tr-TR" b="1" dirty="0" err="1" smtClean="0"/>
              <a:t>anlamı:</a:t>
            </a:r>
            <a:r>
              <a:rPr lang="tr-TR" dirty="0" err="1" smtClean="0"/>
              <a:t>Yeşil</a:t>
            </a:r>
            <a:r>
              <a:rPr lang="tr-TR" dirty="0" smtClean="0"/>
              <a:t> renk, kozmetikte doğal güzellik, sakinlik ve yenilenme simgelerken, özellikle hassas ciltler için yatıştırıcı ve rahatlatıcı bir etki sağlar.</a:t>
            </a:r>
          </a:p>
          <a:p>
            <a:r>
              <a:rPr lang="tr-TR" b="1" dirty="0" smtClean="0"/>
              <a:t>Sembolizm </a:t>
            </a:r>
            <a:r>
              <a:rPr lang="tr-TR" b="1" dirty="0" err="1" smtClean="0"/>
              <a:t>anlamı:</a:t>
            </a:r>
            <a:r>
              <a:rPr lang="tr-TR" dirty="0" err="1" smtClean="0"/>
              <a:t>Yeşil</a:t>
            </a:r>
            <a:r>
              <a:rPr lang="tr-TR" dirty="0" smtClean="0"/>
              <a:t> rengin sembolizm anlamı, genellikle doğa, yenilenme, denge ve huzur ile ilişkilendirilir. Doğanın en yaygın renklerinden biri olan yeşil, büyüme ve yaşamın simgesidir.</a:t>
            </a:r>
          </a:p>
          <a:p>
            <a:r>
              <a:rPr lang="tr-TR" b="1" dirty="0" smtClean="0"/>
              <a:t>Psikolojik </a:t>
            </a:r>
            <a:r>
              <a:rPr lang="tr-TR" b="1" dirty="0" err="1" smtClean="0"/>
              <a:t>anlamı:</a:t>
            </a:r>
            <a:r>
              <a:rPr lang="tr-TR" dirty="0" err="1" smtClean="0"/>
              <a:t>Yeşil</a:t>
            </a:r>
            <a:r>
              <a:rPr lang="tr-TR" dirty="0" smtClean="0"/>
              <a:t> rengin psikolojik anlamı, huzur, denge, güven ve yenilenme gibi duygularla ilişkilidir. İnsanlar, yeşil renk ile çevrelendiklerinde genellikle rahatlama ve sakinleşme hissi yaşarlar</a:t>
            </a:r>
            <a:endParaRPr lang="tr-TR" dirty="0"/>
          </a:p>
        </p:txBody>
      </p:sp>
    </p:spTree>
    <p:extLst>
      <p:ext uri="{BB962C8B-B14F-4D97-AF65-F5344CB8AC3E}">
        <p14:creationId xmlns:p14="http://schemas.microsoft.com/office/powerpoint/2010/main" val="17391278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smtClean="0"/>
              <a:t>YEŞİL RENGİNİ KULLANAN POPÜLER FİRMALAR</a:t>
            </a:r>
            <a:endParaRPr lang="tr-TR" dirty="0"/>
          </a:p>
        </p:txBody>
      </p:sp>
      <p:sp>
        <p:nvSpPr>
          <p:cNvPr id="4" name="İçerik Yer Tutucusu 3"/>
          <p:cNvSpPr>
            <a:spLocks noGrp="1"/>
          </p:cNvSpPr>
          <p:nvPr>
            <p:ph sz="half" idx="1"/>
          </p:nvPr>
        </p:nvSpPr>
        <p:spPr>
          <a:xfrm>
            <a:off x="5120877" y="108386"/>
            <a:ext cx="6269591" cy="2946692"/>
          </a:xfrm>
        </p:spPr>
        <p:txBody>
          <a:bodyPr>
            <a:normAutofit fontScale="47500" lnSpcReduction="20000"/>
          </a:bodyPr>
          <a:lstStyle/>
          <a:p>
            <a:r>
              <a:rPr lang="tr-TR" sz="3400" b="1" dirty="0"/>
              <a:t>1. </a:t>
            </a:r>
            <a:r>
              <a:rPr lang="tr-TR" sz="3400" b="1" dirty="0" err="1"/>
              <a:t>Starbucks</a:t>
            </a:r>
            <a:endParaRPr lang="tr-TR" sz="3400" b="1" dirty="0"/>
          </a:p>
          <a:p>
            <a:r>
              <a:rPr lang="tr-TR" sz="3400" b="1" dirty="0"/>
              <a:t>Rengi Kullandığı Yer:</a:t>
            </a:r>
            <a:r>
              <a:rPr lang="tr-TR" sz="3400" dirty="0"/>
              <a:t> </a:t>
            </a:r>
            <a:r>
              <a:rPr lang="tr-TR" sz="3400" dirty="0" err="1"/>
              <a:t>Starbucks</a:t>
            </a:r>
            <a:r>
              <a:rPr lang="tr-TR" sz="3400" dirty="0"/>
              <a:t>, logosunda ve mağaza tasarımlarında yeşil rengi yoğun bir şekilde kullanır. Yeşil, markanın doğayla ve sürdürülebilirlikle olan bağlantısını simgeler. Ayrıca, markanın taze, kaliteli ve sağlıklı bir kahve deneyimi sunduğu imajını pekiştirir.</a:t>
            </a:r>
          </a:p>
          <a:p>
            <a:r>
              <a:rPr lang="tr-TR" sz="3400" b="1" dirty="0"/>
              <a:t>Yeşil Rengin Anlamı:</a:t>
            </a:r>
            <a:r>
              <a:rPr lang="tr-TR" sz="3400" dirty="0"/>
              <a:t> </a:t>
            </a:r>
            <a:r>
              <a:rPr lang="tr-TR" sz="3400" dirty="0" err="1"/>
              <a:t>Starbucks</a:t>
            </a:r>
            <a:r>
              <a:rPr lang="tr-TR" sz="3400" dirty="0"/>
              <a:t>, yeşil rengi kullanarak güven, doğallık ve tazelik mesajı verir. Yeşil, markanın müşterilerine rahatlatıcı ve huzurlu bir atmosfer sunduğu izlenimini </a:t>
            </a:r>
            <a:r>
              <a:rPr lang="tr-TR" sz="3400" dirty="0" smtClean="0"/>
              <a:t>yaratır</a:t>
            </a:r>
            <a:endParaRPr lang="tr-TR" sz="3400" dirty="0"/>
          </a:p>
          <a:p>
            <a:endParaRPr lang="tr-TR" dirty="0"/>
          </a:p>
        </p:txBody>
      </p:sp>
      <p:sp>
        <p:nvSpPr>
          <p:cNvPr id="5" name="İçerik Yer Tutucusu 4"/>
          <p:cNvSpPr>
            <a:spLocks noGrp="1"/>
          </p:cNvSpPr>
          <p:nvPr>
            <p:ph sz="half" idx="2"/>
          </p:nvPr>
        </p:nvSpPr>
        <p:spPr>
          <a:xfrm>
            <a:off x="5192785" y="3289475"/>
            <a:ext cx="6999215" cy="2709644"/>
          </a:xfrm>
        </p:spPr>
        <p:txBody>
          <a:bodyPr>
            <a:noAutofit/>
          </a:bodyPr>
          <a:lstStyle/>
          <a:p>
            <a:r>
              <a:rPr lang="tr-TR" sz="1600" b="1" dirty="0"/>
              <a:t>2. </a:t>
            </a:r>
            <a:r>
              <a:rPr lang="tr-TR" sz="1600" b="1" dirty="0" err="1"/>
              <a:t>Whole</a:t>
            </a:r>
            <a:r>
              <a:rPr lang="tr-TR" sz="1600" b="1" dirty="0"/>
              <a:t> </a:t>
            </a:r>
            <a:r>
              <a:rPr lang="tr-TR" sz="1600" b="1" dirty="0" err="1"/>
              <a:t>Foods</a:t>
            </a:r>
            <a:r>
              <a:rPr lang="tr-TR" sz="1600" b="1" dirty="0"/>
              <a:t> Market</a:t>
            </a:r>
          </a:p>
          <a:p>
            <a:r>
              <a:rPr lang="tr-TR" sz="1600" b="1" dirty="0"/>
              <a:t>Rengi Kullandığı Yer:</a:t>
            </a:r>
            <a:r>
              <a:rPr lang="tr-TR" sz="1600" dirty="0"/>
              <a:t> </a:t>
            </a:r>
            <a:r>
              <a:rPr lang="tr-TR" sz="1600" dirty="0" err="1"/>
              <a:t>Whole</a:t>
            </a:r>
            <a:r>
              <a:rPr lang="tr-TR" sz="1600" dirty="0"/>
              <a:t> </a:t>
            </a:r>
            <a:r>
              <a:rPr lang="tr-TR" sz="1600" dirty="0" err="1"/>
              <a:t>Foods</a:t>
            </a:r>
            <a:r>
              <a:rPr lang="tr-TR" sz="1600" dirty="0"/>
              <a:t> Market, logosunda ve mağaza tasarımlarında yeşil rengi kullanır. Mağaza iç mekanlarında, ürün ambalajlarında ve reklamlarda da yeşil renk sıkça yer alır.</a:t>
            </a:r>
          </a:p>
          <a:p>
            <a:r>
              <a:rPr lang="tr-TR" sz="1600" b="1" dirty="0"/>
              <a:t>Yeşil Rengin Anlamı:</a:t>
            </a:r>
            <a:r>
              <a:rPr lang="tr-TR" sz="1600" dirty="0"/>
              <a:t> </a:t>
            </a:r>
            <a:r>
              <a:rPr lang="tr-TR" sz="1600" dirty="0" err="1"/>
              <a:t>Whole</a:t>
            </a:r>
            <a:r>
              <a:rPr lang="tr-TR" sz="1600" dirty="0"/>
              <a:t> </a:t>
            </a:r>
            <a:r>
              <a:rPr lang="tr-TR" sz="1600" dirty="0" err="1"/>
              <a:t>Foods</a:t>
            </a:r>
            <a:r>
              <a:rPr lang="tr-TR" sz="1600" dirty="0"/>
              <a:t>, yeşil rengi kullanarak sağlık, doğallık ve çevre dostu bir imaj yaratır. Bu, markanın organik, sağlıklı ve sürdürülebilir ürünler sunduğunu vurgular. Yeşil, aynı zamanda doğa ve taze ürünlerle olan bağı simgeler</a:t>
            </a:r>
          </a:p>
        </p:txBody>
      </p:sp>
      <p:pic>
        <p:nvPicPr>
          <p:cNvPr id="7" name="Resi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6807" y="2615735"/>
            <a:ext cx="1604710" cy="1058643"/>
          </a:xfrm>
          <a:prstGeom prst="rect">
            <a:avLst/>
          </a:prstGeom>
        </p:spPr>
      </p:pic>
      <p:pic>
        <p:nvPicPr>
          <p:cNvPr id="8" name="Resim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6807" y="5615876"/>
            <a:ext cx="1604710" cy="1235279"/>
          </a:xfrm>
          <a:prstGeom prst="rect">
            <a:avLst/>
          </a:prstGeom>
        </p:spPr>
      </p:pic>
    </p:spTree>
    <p:extLst>
      <p:ext uri="{BB962C8B-B14F-4D97-AF65-F5344CB8AC3E}">
        <p14:creationId xmlns:p14="http://schemas.microsoft.com/office/powerpoint/2010/main" val="201186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734069" y="-541861"/>
            <a:ext cx="8679915" cy="1748729"/>
          </a:xfrm>
        </p:spPr>
        <p:txBody>
          <a:bodyPr/>
          <a:lstStyle/>
          <a:p>
            <a:r>
              <a:rPr lang="tr-TR" dirty="0" smtClean="0">
                <a:solidFill>
                  <a:srgbClr val="9B17B5"/>
                </a:solidFill>
              </a:rPr>
              <a:t>MOR</a:t>
            </a:r>
            <a:endParaRPr lang="tr-TR" dirty="0">
              <a:solidFill>
                <a:srgbClr val="9B17B5"/>
              </a:solidFill>
            </a:endParaRPr>
          </a:p>
        </p:txBody>
      </p:sp>
      <p:sp>
        <p:nvSpPr>
          <p:cNvPr id="7" name="Metin kutusu 6"/>
          <p:cNvSpPr txBox="1"/>
          <p:nvPr/>
        </p:nvSpPr>
        <p:spPr>
          <a:xfrm>
            <a:off x="1734069" y="1206868"/>
            <a:ext cx="8794114"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yaratıcılığı</a:t>
            </a:r>
            <a:r>
              <a:rPr lang="tr-TR" dirty="0" smtClean="0"/>
              <a:t> artırarak, huzur ve sakinlik </a:t>
            </a:r>
            <a:r>
              <a:rPr lang="tr-TR" dirty="0" err="1" smtClean="0"/>
              <a:t>sağlar,derinlik</a:t>
            </a:r>
            <a:r>
              <a:rPr lang="tr-TR" dirty="0" smtClean="0"/>
              <a:t> hissi yaratır.</a:t>
            </a:r>
          </a:p>
          <a:p>
            <a:r>
              <a:rPr lang="tr-TR" b="1" dirty="0" smtClean="0"/>
              <a:t>Negatif </a:t>
            </a:r>
            <a:r>
              <a:rPr lang="tr-TR" b="1" dirty="0" err="1" smtClean="0"/>
              <a:t>etkisi:</a:t>
            </a:r>
            <a:r>
              <a:rPr lang="tr-TR" dirty="0" err="1"/>
              <a:t>A</a:t>
            </a:r>
            <a:r>
              <a:rPr lang="tr-TR" dirty="0" err="1" smtClean="0"/>
              <a:t>şırı</a:t>
            </a:r>
            <a:r>
              <a:rPr lang="tr-TR" dirty="0" smtClean="0"/>
              <a:t> kullanıldığında aşırı duygusal yoğunluk hissi yaratır.</a:t>
            </a:r>
            <a:endParaRPr lang="tr-TR" dirty="0"/>
          </a:p>
        </p:txBody>
      </p:sp>
      <p:sp>
        <p:nvSpPr>
          <p:cNvPr id="8" name="Metin kutusu 7"/>
          <p:cNvSpPr txBox="1"/>
          <p:nvPr/>
        </p:nvSpPr>
        <p:spPr>
          <a:xfrm>
            <a:off x="1676969" y="2013358"/>
            <a:ext cx="8794114" cy="2308324"/>
          </a:xfrm>
          <a:prstGeom prst="rect">
            <a:avLst/>
          </a:prstGeom>
          <a:noFill/>
        </p:spPr>
        <p:txBody>
          <a:bodyPr wrap="square" rtlCol="0">
            <a:spAutoFit/>
          </a:bodyPr>
          <a:lstStyle/>
          <a:p>
            <a:r>
              <a:rPr lang="tr-TR" b="1" dirty="0" smtClean="0"/>
              <a:t>Kozmetik </a:t>
            </a:r>
            <a:r>
              <a:rPr lang="tr-TR" b="1" dirty="0" err="1" smtClean="0"/>
              <a:t>anlamı:</a:t>
            </a:r>
            <a:r>
              <a:rPr lang="tr-TR" dirty="0" err="1" smtClean="0"/>
              <a:t>Mor</a:t>
            </a:r>
            <a:r>
              <a:rPr lang="tr-TR" dirty="0" smtClean="0"/>
              <a:t> renk, kozmetikte cilt tonunu dengeleyerek, gözleri vurgulayıp daha genç ve ışıltılı bir görünüm sağlar.</a:t>
            </a:r>
          </a:p>
          <a:p>
            <a:endParaRPr lang="tr-TR" dirty="0" smtClean="0"/>
          </a:p>
          <a:p>
            <a:r>
              <a:rPr lang="tr-TR" b="1" dirty="0" smtClean="0"/>
              <a:t>Sembolizm </a:t>
            </a:r>
            <a:r>
              <a:rPr lang="tr-TR" b="1" dirty="0" err="1" smtClean="0"/>
              <a:t>anlamı:</a:t>
            </a:r>
            <a:r>
              <a:rPr lang="tr-TR" dirty="0" err="1" smtClean="0"/>
              <a:t>Mor</a:t>
            </a:r>
            <a:r>
              <a:rPr lang="tr-TR" dirty="0" smtClean="0"/>
              <a:t> renk, sembolizmde zenginlik, lüks, yaratıcılık ve maneviyat ile ilişkilendirilir, aynı zamanda gizem ve derinlik duygusu uyandırır.</a:t>
            </a:r>
          </a:p>
          <a:p>
            <a:endParaRPr lang="tr-TR" dirty="0" smtClean="0"/>
          </a:p>
          <a:p>
            <a:r>
              <a:rPr lang="tr-TR" b="1" dirty="0" smtClean="0"/>
              <a:t>Psikolojik </a:t>
            </a:r>
            <a:r>
              <a:rPr lang="tr-TR" b="1" dirty="0" err="1" smtClean="0"/>
              <a:t>anlamı:</a:t>
            </a:r>
            <a:r>
              <a:rPr lang="tr-TR" dirty="0" err="1" smtClean="0"/>
              <a:t>Mor</a:t>
            </a:r>
            <a:r>
              <a:rPr lang="tr-TR" dirty="0" smtClean="0"/>
              <a:t> renk, psikolojik olarak huzur, yaratıcılık ve duygusal denge sağlar, aynı zamanda manevi derinlik ve içsel keşif duygusu uyandırır.</a:t>
            </a:r>
            <a:endParaRPr lang="tr-TR" dirty="0"/>
          </a:p>
        </p:txBody>
      </p:sp>
    </p:spTree>
    <p:extLst>
      <p:ext uri="{BB962C8B-B14F-4D97-AF65-F5344CB8AC3E}">
        <p14:creationId xmlns:p14="http://schemas.microsoft.com/office/powerpoint/2010/main" val="17016888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smtClean="0"/>
              <a:t>MOR RENGİNİ KULLANAN POPÜLER FİRMALAR</a:t>
            </a:r>
            <a:endParaRPr lang="tr-TR" dirty="0"/>
          </a:p>
        </p:txBody>
      </p:sp>
      <p:sp>
        <p:nvSpPr>
          <p:cNvPr id="4" name="İçerik Yer Tutucusu 3"/>
          <p:cNvSpPr>
            <a:spLocks noGrp="1"/>
          </p:cNvSpPr>
          <p:nvPr>
            <p:ph sz="half" idx="1"/>
          </p:nvPr>
        </p:nvSpPr>
        <p:spPr>
          <a:xfrm>
            <a:off x="5118445" y="48886"/>
            <a:ext cx="7073553" cy="2451741"/>
          </a:xfrm>
        </p:spPr>
        <p:txBody>
          <a:bodyPr>
            <a:noAutofit/>
          </a:bodyPr>
          <a:lstStyle/>
          <a:p>
            <a:r>
              <a:rPr lang="tr-TR" sz="1600" b="1" dirty="0"/>
              <a:t>1. </a:t>
            </a:r>
            <a:r>
              <a:rPr lang="tr-TR" sz="1600" b="1" dirty="0" err="1"/>
              <a:t>Yahoo</a:t>
            </a:r>
            <a:endParaRPr lang="tr-TR" sz="1600" b="1" dirty="0"/>
          </a:p>
          <a:p>
            <a:r>
              <a:rPr lang="tr-TR" sz="1600" b="1" dirty="0"/>
              <a:t>Rengi Kullandığı Yer:</a:t>
            </a:r>
            <a:r>
              <a:rPr lang="tr-TR" sz="1600" dirty="0"/>
              <a:t> </a:t>
            </a:r>
            <a:r>
              <a:rPr lang="tr-TR" sz="1600" dirty="0" err="1"/>
              <a:t>Yahoo</a:t>
            </a:r>
            <a:r>
              <a:rPr lang="tr-TR" sz="1600" dirty="0"/>
              <a:t>, logosunda mor rengini kullanarak yenilikçi ve modern bir imaj yaratır. Mor, </a:t>
            </a:r>
            <a:r>
              <a:rPr lang="tr-TR" sz="1600" dirty="0" err="1"/>
              <a:t>Yahoo'nun</a:t>
            </a:r>
            <a:r>
              <a:rPr lang="tr-TR" sz="1600" dirty="0"/>
              <a:t> dijital ve teknolojik yenilikçiliğini simgeler ve markaya zenginlik ve gizem katar.</a:t>
            </a:r>
          </a:p>
          <a:p>
            <a:r>
              <a:rPr lang="tr-TR" sz="1600" b="1" dirty="0"/>
              <a:t>Mor Rengin Anlamı:</a:t>
            </a:r>
            <a:r>
              <a:rPr lang="tr-TR" sz="1600" dirty="0"/>
              <a:t> </a:t>
            </a:r>
            <a:r>
              <a:rPr lang="tr-TR" sz="1600" dirty="0" err="1"/>
              <a:t>Yahoo'nun</a:t>
            </a:r>
            <a:r>
              <a:rPr lang="tr-TR" sz="1600" dirty="0"/>
              <a:t> mor kullanımı, eğlenceli, yaratıcı ve sahip olduğu bilgi gücü ile ilişkilendirilir. Ayrıca, prestij ve yüksek kaliteli dijital içerik sunma amacını yansıtır</a:t>
            </a:r>
          </a:p>
        </p:txBody>
      </p:sp>
      <p:sp>
        <p:nvSpPr>
          <p:cNvPr id="5" name="İçerik Yer Tutucusu 4"/>
          <p:cNvSpPr>
            <a:spLocks noGrp="1"/>
          </p:cNvSpPr>
          <p:nvPr>
            <p:ph sz="half" idx="2"/>
          </p:nvPr>
        </p:nvSpPr>
        <p:spPr>
          <a:xfrm>
            <a:off x="5118444" y="3143657"/>
            <a:ext cx="7073553" cy="2619581"/>
          </a:xfrm>
        </p:spPr>
        <p:txBody>
          <a:bodyPr>
            <a:noAutofit/>
          </a:bodyPr>
          <a:lstStyle/>
          <a:p>
            <a:r>
              <a:rPr lang="tr-TR" sz="1600" b="1" dirty="0"/>
              <a:t>2. </a:t>
            </a:r>
            <a:r>
              <a:rPr lang="tr-TR" sz="1600" b="1" dirty="0" err="1"/>
              <a:t>Twitch</a:t>
            </a:r>
            <a:endParaRPr lang="tr-TR" sz="1600" b="1" dirty="0"/>
          </a:p>
          <a:p>
            <a:r>
              <a:rPr lang="tr-TR" sz="1600" b="1" dirty="0"/>
              <a:t>Rengi Kullandığı Yer:</a:t>
            </a:r>
            <a:r>
              <a:rPr lang="tr-TR" sz="1600" dirty="0"/>
              <a:t> </a:t>
            </a:r>
            <a:r>
              <a:rPr lang="tr-TR" sz="1600" dirty="0" err="1"/>
              <a:t>Twitch</a:t>
            </a:r>
            <a:r>
              <a:rPr lang="tr-TR" sz="1600" dirty="0"/>
              <a:t>, canlı yayın platformunda </a:t>
            </a:r>
            <a:r>
              <a:rPr lang="tr-TR" sz="1600" b="1" dirty="0"/>
              <a:t>mor</a:t>
            </a:r>
            <a:r>
              <a:rPr lang="tr-TR" sz="1600" dirty="0"/>
              <a:t> rengini logo ve </a:t>
            </a:r>
            <a:r>
              <a:rPr lang="tr-TR" sz="1600" dirty="0" err="1"/>
              <a:t>arayüz</a:t>
            </a:r>
            <a:r>
              <a:rPr lang="tr-TR" sz="1600" dirty="0"/>
              <a:t> tasarımlarında kullanır. Mor, </a:t>
            </a:r>
            <a:r>
              <a:rPr lang="tr-TR" sz="1600" dirty="0" err="1"/>
              <a:t>Twitch'in</a:t>
            </a:r>
            <a:r>
              <a:rPr lang="tr-TR" sz="1600" dirty="0"/>
              <a:t> </a:t>
            </a:r>
            <a:r>
              <a:rPr lang="tr-TR" sz="1600" b="1" dirty="0"/>
              <a:t>yaratıcı</a:t>
            </a:r>
            <a:r>
              <a:rPr lang="tr-TR" sz="1600" dirty="0"/>
              <a:t>, </a:t>
            </a:r>
            <a:r>
              <a:rPr lang="tr-TR" sz="1600" b="1" dirty="0"/>
              <a:t>enerjik</a:t>
            </a:r>
            <a:r>
              <a:rPr lang="tr-TR" sz="1600" dirty="0"/>
              <a:t> ve </a:t>
            </a:r>
            <a:r>
              <a:rPr lang="tr-TR" sz="1600" b="1" dirty="0"/>
              <a:t>genç</a:t>
            </a:r>
            <a:r>
              <a:rPr lang="tr-TR" sz="1600" dirty="0"/>
              <a:t> kitlesine hitap eden bir renk olarak, yayıncılar ve izleyiciler arasında güçlü bir bağ kurar.</a:t>
            </a:r>
          </a:p>
          <a:p>
            <a:r>
              <a:rPr lang="tr-TR" sz="1600" b="1" dirty="0"/>
              <a:t>Mor Rengin Anlamı:</a:t>
            </a:r>
            <a:r>
              <a:rPr lang="tr-TR" sz="1600" dirty="0"/>
              <a:t> </a:t>
            </a:r>
            <a:r>
              <a:rPr lang="tr-TR" sz="1600" dirty="0" err="1"/>
              <a:t>Twitch'in</a:t>
            </a:r>
            <a:r>
              <a:rPr lang="tr-TR" sz="1600" dirty="0"/>
              <a:t> mor rengi, </a:t>
            </a:r>
            <a:r>
              <a:rPr lang="tr-TR" sz="1600" b="1" dirty="0"/>
              <a:t>yaratıcılık</a:t>
            </a:r>
            <a:r>
              <a:rPr lang="tr-TR" sz="1600" dirty="0"/>
              <a:t>, </a:t>
            </a:r>
            <a:r>
              <a:rPr lang="tr-TR" sz="1600" b="1" dirty="0"/>
              <a:t>yenilik</a:t>
            </a:r>
            <a:r>
              <a:rPr lang="tr-TR" sz="1600" dirty="0"/>
              <a:t> ve </a:t>
            </a:r>
            <a:r>
              <a:rPr lang="tr-TR" sz="1600" b="1" dirty="0"/>
              <a:t>enerji</a:t>
            </a:r>
            <a:r>
              <a:rPr lang="tr-TR" sz="1600" dirty="0"/>
              <a:t> ile ilişkilendirilir. Bu renk, genç ve teknolojiye yatkın bir kitleye hitap eder, aynı zamanda platformun </a:t>
            </a:r>
            <a:r>
              <a:rPr lang="tr-TR" sz="1600" b="1" dirty="0"/>
              <a:t>özgün</a:t>
            </a:r>
            <a:r>
              <a:rPr lang="tr-TR" sz="1600" dirty="0"/>
              <a:t> ve </a:t>
            </a:r>
            <a:r>
              <a:rPr lang="tr-TR" sz="1600" b="1" dirty="0"/>
              <a:t>dinamik</a:t>
            </a:r>
            <a:r>
              <a:rPr lang="tr-TR" sz="1600" dirty="0"/>
              <a:t> doğasını vurgular</a:t>
            </a:r>
          </a:p>
          <a:p>
            <a:endParaRPr lang="tr-TR" sz="1600" dirty="0"/>
          </a:p>
        </p:txBody>
      </p:sp>
      <p:pic>
        <p:nvPicPr>
          <p:cNvPr id="8" name="Resi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0420" y="2102524"/>
            <a:ext cx="2163224" cy="1514475"/>
          </a:xfrm>
          <a:prstGeom prst="rect">
            <a:avLst/>
          </a:prstGeom>
        </p:spPr>
      </p:pic>
      <p:pic>
        <p:nvPicPr>
          <p:cNvPr id="9" name="Resim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08066" y="5763238"/>
            <a:ext cx="2091652" cy="1044298"/>
          </a:xfrm>
          <a:prstGeom prst="rect">
            <a:avLst/>
          </a:prstGeom>
        </p:spPr>
      </p:pic>
    </p:spTree>
    <p:extLst>
      <p:ext uri="{BB962C8B-B14F-4D97-AF65-F5344CB8AC3E}">
        <p14:creationId xmlns:p14="http://schemas.microsoft.com/office/powerpoint/2010/main" val="29532945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752749" y="-441193"/>
            <a:ext cx="8679915" cy="1748729"/>
          </a:xfrm>
        </p:spPr>
        <p:txBody>
          <a:bodyPr/>
          <a:lstStyle/>
          <a:p>
            <a:r>
              <a:rPr lang="tr-TR" dirty="0" smtClean="0">
                <a:solidFill>
                  <a:srgbClr val="FFC000"/>
                </a:solidFill>
              </a:rPr>
              <a:t>TURUNCU</a:t>
            </a:r>
            <a:endParaRPr lang="tr-TR" dirty="0">
              <a:solidFill>
                <a:srgbClr val="FFC000"/>
              </a:solidFill>
            </a:endParaRPr>
          </a:p>
        </p:txBody>
      </p:sp>
      <p:sp>
        <p:nvSpPr>
          <p:cNvPr id="7" name="Metin kutusu 6"/>
          <p:cNvSpPr txBox="1"/>
          <p:nvPr/>
        </p:nvSpPr>
        <p:spPr>
          <a:xfrm>
            <a:off x="1602298" y="1122870"/>
            <a:ext cx="8917496"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Enerji</a:t>
            </a:r>
            <a:r>
              <a:rPr lang="tr-TR" dirty="0" smtClean="0"/>
              <a:t> ve </a:t>
            </a:r>
            <a:r>
              <a:rPr lang="tr-TR" dirty="0" err="1" smtClean="0"/>
              <a:t>canlılık,neşe,mutluluk</a:t>
            </a:r>
            <a:r>
              <a:rPr lang="tr-TR" dirty="0" smtClean="0"/>
              <a:t> konsantrasyonu artırır.</a:t>
            </a:r>
          </a:p>
          <a:p>
            <a:r>
              <a:rPr lang="tr-TR" b="1" dirty="0" smtClean="0"/>
              <a:t>Negatif </a:t>
            </a:r>
            <a:r>
              <a:rPr lang="tr-TR" b="1" dirty="0" err="1" smtClean="0"/>
              <a:t>etkisi:</a:t>
            </a:r>
            <a:r>
              <a:rPr lang="tr-TR" dirty="0" err="1" smtClean="0"/>
              <a:t>Aşırı</a:t>
            </a:r>
            <a:r>
              <a:rPr lang="tr-TR" dirty="0" smtClean="0"/>
              <a:t> </a:t>
            </a:r>
            <a:r>
              <a:rPr lang="tr-TR" dirty="0" err="1" smtClean="0"/>
              <a:t>canlılık,ihtiyaçtan</a:t>
            </a:r>
            <a:r>
              <a:rPr lang="tr-TR" dirty="0" smtClean="0"/>
              <a:t> fazla </a:t>
            </a:r>
            <a:r>
              <a:rPr lang="tr-TR" dirty="0" err="1" smtClean="0"/>
              <a:t>gösteriş,dikkat</a:t>
            </a:r>
            <a:r>
              <a:rPr lang="tr-TR" dirty="0" smtClean="0"/>
              <a:t> dağılması</a:t>
            </a:r>
            <a:endParaRPr lang="tr-TR" dirty="0"/>
          </a:p>
        </p:txBody>
      </p:sp>
      <p:sp>
        <p:nvSpPr>
          <p:cNvPr id="8" name="Metin kutusu 7"/>
          <p:cNvSpPr txBox="1"/>
          <p:nvPr/>
        </p:nvSpPr>
        <p:spPr>
          <a:xfrm>
            <a:off x="1721088" y="2021748"/>
            <a:ext cx="8679915" cy="2862322"/>
          </a:xfrm>
          <a:prstGeom prst="rect">
            <a:avLst/>
          </a:prstGeom>
          <a:noFill/>
        </p:spPr>
        <p:txBody>
          <a:bodyPr wrap="square" rtlCol="0">
            <a:spAutoFit/>
          </a:bodyPr>
          <a:lstStyle/>
          <a:p>
            <a:r>
              <a:rPr lang="tr-TR" b="1" dirty="0" smtClean="0"/>
              <a:t>Kozmetik </a:t>
            </a:r>
            <a:r>
              <a:rPr lang="tr-TR" b="1" dirty="0" err="1" smtClean="0"/>
              <a:t>anlamı:</a:t>
            </a:r>
            <a:r>
              <a:rPr lang="tr-TR" dirty="0" err="1" smtClean="0"/>
              <a:t>Turuncu</a:t>
            </a:r>
            <a:r>
              <a:rPr lang="tr-TR" dirty="0" smtClean="0"/>
              <a:t> renk, kozmetik ürünlerinde canlılık, tazelik ve enerji katarken, özellikle allık ve rujda kullanıldığında sağlıklı bir ışıltı ve sıcaklık sağlar</a:t>
            </a:r>
          </a:p>
          <a:p>
            <a:endParaRPr lang="tr-TR" dirty="0" smtClean="0"/>
          </a:p>
          <a:p>
            <a:r>
              <a:rPr lang="tr-TR" b="1" dirty="0" smtClean="0"/>
              <a:t>Sembolizm </a:t>
            </a:r>
            <a:r>
              <a:rPr lang="tr-TR" b="1" dirty="0" err="1" smtClean="0"/>
              <a:t>anlamı:</a:t>
            </a:r>
            <a:r>
              <a:rPr lang="tr-TR" dirty="0" err="1" smtClean="0"/>
              <a:t>Turuncu</a:t>
            </a:r>
            <a:r>
              <a:rPr lang="tr-TR" dirty="0" smtClean="0"/>
              <a:t> renk, sembolizmde enerji, coşku, ve yaratıcılık ile ilişkilendirilirken, aynı zamanda sıcaklık, misafirperverlik ve mutluluk duyguları uyandırır.</a:t>
            </a:r>
          </a:p>
          <a:p>
            <a:endParaRPr lang="tr-TR" dirty="0" smtClean="0"/>
          </a:p>
          <a:p>
            <a:r>
              <a:rPr lang="tr-TR" b="1" dirty="0" smtClean="0"/>
              <a:t>Psikolojik </a:t>
            </a:r>
            <a:r>
              <a:rPr lang="tr-TR" b="1" dirty="0" err="1" smtClean="0"/>
              <a:t>anlamı:</a:t>
            </a:r>
            <a:r>
              <a:rPr lang="tr-TR" dirty="0" err="1" smtClean="0"/>
              <a:t>Turuncu</a:t>
            </a:r>
            <a:r>
              <a:rPr lang="tr-TR" dirty="0" smtClean="0"/>
              <a:t> renk, psikolojik olarak canlılık, neşe ve pozitif enerji sağlar, aynı zamanda yaratıcılığı artırarak kişileri harekete geçirmeye teşvik eder</a:t>
            </a:r>
          </a:p>
          <a:p>
            <a:endParaRPr lang="tr-TR" dirty="0"/>
          </a:p>
        </p:txBody>
      </p:sp>
    </p:spTree>
    <p:extLst>
      <p:ext uri="{BB962C8B-B14F-4D97-AF65-F5344CB8AC3E}">
        <p14:creationId xmlns:p14="http://schemas.microsoft.com/office/powerpoint/2010/main" val="21491701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fontScale="90000"/>
          </a:bodyPr>
          <a:lstStyle/>
          <a:p>
            <a:r>
              <a:rPr lang="tr-TR" dirty="0" smtClean="0"/>
              <a:t>TURUNCU RENGİNİ KULLANAN POPÜLER FİRMALAR</a:t>
            </a:r>
            <a:endParaRPr lang="tr-TR" dirty="0"/>
          </a:p>
        </p:txBody>
      </p:sp>
      <p:sp>
        <p:nvSpPr>
          <p:cNvPr id="4" name="İçerik Yer Tutucusu 3"/>
          <p:cNvSpPr>
            <a:spLocks noGrp="1"/>
          </p:cNvSpPr>
          <p:nvPr>
            <p:ph sz="half" idx="1"/>
          </p:nvPr>
        </p:nvSpPr>
        <p:spPr>
          <a:xfrm>
            <a:off x="5120878" y="0"/>
            <a:ext cx="6269591" cy="2608976"/>
          </a:xfrm>
        </p:spPr>
        <p:txBody>
          <a:bodyPr>
            <a:noAutofit/>
          </a:bodyPr>
          <a:lstStyle/>
          <a:p>
            <a:r>
              <a:rPr lang="tr-TR" sz="1600" b="1" dirty="0"/>
              <a:t>1. Fanta</a:t>
            </a:r>
          </a:p>
          <a:p>
            <a:r>
              <a:rPr lang="tr-TR" sz="1600" b="1" dirty="0"/>
              <a:t>Rengi Kullandığı Yer:</a:t>
            </a:r>
            <a:r>
              <a:rPr lang="tr-TR" sz="1600" dirty="0"/>
              <a:t> Fanta, logosunda ve ambalajlarında belirgin şekilde turuncu rengi kullanır. Bu renk, markanın canlı ve neşeli imajını güçlendirir, aynı zamanda meyve suyu içeriği ve taze, ferahlatıcı hissiyatını vurgular.</a:t>
            </a:r>
          </a:p>
          <a:p>
            <a:r>
              <a:rPr lang="tr-TR" sz="1600" b="1" dirty="0"/>
              <a:t>Turuncu Rengin Anlamı:</a:t>
            </a:r>
            <a:r>
              <a:rPr lang="tr-TR" sz="1600" dirty="0"/>
              <a:t> Fanta'nın turuncu rengi, enerji, coşku ve neşe hissi yaratır, bu da markanın genç ve dinamik kitlesine hitap eder.</a:t>
            </a:r>
          </a:p>
        </p:txBody>
      </p:sp>
      <p:sp>
        <p:nvSpPr>
          <p:cNvPr id="5" name="İçerik Yer Tutucusu 4"/>
          <p:cNvSpPr>
            <a:spLocks noGrp="1"/>
          </p:cNvSpPr>
          <p:nvPr>
            <p:ph sz="half" idx="2"/>
          </p:nvPr>
        </p:nvSpPr>
        <p:spPr>
          <a:xfrm>
            <a:off x="5118447" y="3077162"/>
            <a:ext cx="6272022" cy="2686693"/>
          </a:xfrm>
        </p:spPr>
        <p:txBody>
          <a:bodyPr>
            <a:noAutofit/>
          </a:bodyPr>
          <a:lstStyle/>
          <a:p>
            <a:r>
              <a:rPr lang="tr-TR" sz="1600" b="1" dirty="0"/>
              <a:t>2. Home </a:t>
            </a:r>
            <a:r>
              <a:rPr lang="tr-TR" sz="1600" b="1" dirty="0" err="1"/>
              <a:t>Depot</a:t>
            </a:r>
            <a:endParaRPr lang="tr-TR" sz="1600" b="1" dirty="0"/>
          </a:p>
          <a:p>
            <a:r>
              <a:rPr lang="tr-TR" sz="1600" b="1" dirty="0"/>
              <a:t>Rengi Kullandığı Yer:</a:t>
            </a:r>
            <a:r>
              <a:rPr lang="tr-TR" sz="1600" dirty="0"/>
              <a:t> Home </a:t>
            </a:r>
            <a:r>
              <a:rPr lang="tr-TR" sz="1600" dirty="0" err="1"/>
              <a:t>Depot</a:t>
            </a:r>
            <a:r>
              <a:rPr lang="tr-TR" sz="1600" dirty="0"/>
              <a:t>, logosunda ve mağaza tasarımlarında turuncu rengi kullanır. Turuncu, markanın güçlü ve canlı bir imaj yaratmasına yardımcı olur, ayrıca mağaza iç mekanlarında da dikkat çekici ve enerjik bir atmosfer sağlar.</a:t>
            </a:r>
          </a:p>
          <a:p>
            <a:r>
              <a:rPr lang="tr-TR" sz="1600" b="1" dirty="0"/>
              <a:t>Turuncu Rengin Anlamı:</a:t>
            </a:r>
            <a:r>
              <a:rPr lang="tr-TR" sz="1600" dirty="0"/>
              <a:t> Home </a:t>
            </a:r>
            <a:r>
              <a:rPr lang="tr-TR" sz="1600" dirty="0" err="1"/>
              <a:t>Depot'un</a:t>
            </a:r>
            <a:r>
              <a:rPr lang="tr-TR" sz="1600" dirty="0"/>
              <a:t> turuncu rengi, hareketlilik, aktivite ve iş yapma enerjisini simgeler. Bu, müşterilere canlı ve güçlü bir ticaret ortamı sunduğunu yansıtır</a:t>
            </a:r>
          </a:p>
        </p:txBody>
      </p:sp>
      <p:pic>
        <p:nvPicPr>
          <p:cNvPr id="6" name="Resi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25040" y="2089849"/>
            <a:ext cx="1566960" cy="1484852"/>
          </a:xfrm>
          <a:prstGeom prst="rect">
            <a:avLst/>
          </a:prstGeom>
        </p:spPr>
      </p:pic>
      <p:pic>
        <p:nvPicPr>
          <p:cNvPr id="7" name="Resim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1406" y="5664550"/>
            <a:ext cx="1607682" cy="1193450"/>
          </a:xfrm>
          <a:prstGeom prst="rect">
            <a:avLst/>
          </a:prstGeom>
        </p:spPr>
      </p:pic>
    </p:spTree>
    <p:extLst>
      <p:ext uri="{BB962C8B-B14F-4D97-AF65-F5344CB8AC3E}">
        <p14:creationId xmlns:p14="http://schemas.microsoft.com/office/powerpoint/2010/main" val="8995027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692125" y="-508305"/>
            <a:ext cx="8679915" cy="1748729"/>
          </a:xfrm>
        </p:spPr>
        <p:txBody>
          <a:bodyPr/>
          <a:lstStyle/>
          <a:p>
            <a:r>
              <a:rPr lang="tr-TR" dirty="0" smtClean="0">
                <a:solidFill>
                  <a:srgbClr val="FF01BC"/>
                </a:solidFill>
              </a:rPr>
              <a:t>PEMBE</a:t>
            </a:r>
            <a:endParaRPr lang="tr-TR" dirty="0">
              <a:solidFill>
                <a:srgbClr val="FF01BC"/>
              </a:solidFill>
            </a:endParaRPr>
          </a:p>
        </p:txBody>
      </p:sp>
      <p:sp>
        <p:nvSpPr>
          <p:cNvPr id="7" name="Metin kutusu 6"/>
          <p:cNvSpPr txBox="1"/>
          <p:nvPr/>
        </p:nvSpPr>
        <p:spPr>
          <a:xfrm>
            <a:off x="1593907" y="1149291"/>
            <a:ext cx="10888911"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Sakinlik</a:t>
            </a:r>
            <a:r>
              <a:rPr lang="tr-TR" dirty="0" smtClean="0"/>
              <a:t>, sevgi, mutluluk ve yaratıcılık gibi olumlu etkiler yaratır.</a:t>
            </a:r>
          </a:p>
          <a:p>
            <a:r>
              <a:rPr lang="tr-TR" b="1" dirty="0" smtClean="0"/>
              <a:t>Negatif </a:t>
            </a:r>
            <a:r>
              <a:rPr lang="tr-TR" b="1" dirty="0" err="1" smtClean="0"/>
              <a:t>etkisi</a:t>
            </a:r>
            <a:r>
              <a:rPr lang="tr-TR" dirty="0" err="1" smtClean="0"/>
              <a:t>:Aşırı</a:t>
            </a:r>
            <a:r>
              <a:rPr lang="tr-TR" dirty="0" smtClean="0"/>
              <a:t> kullanıldığında yüzeysel, zayıf veya naif bir izlenim bırakabilir.</a:t>
            </a:r>
            <a:endParaRPr lang="tr-TR" dirty="0"/>
          </a:p>
        </p:txBody>
      </p:sp>
      <p:sp>
        <p:nvSpPr>
          <p:cNvPr id="8" name="Metin kutusu 7"/>
          <p:cNvSpPr txBox="1"/>
          <p:nvPr/>
        </p:nvSpPr>
        <p:spPr>
          <a:xfrm>
            <a:off x="1622441" y="1963024"/>
            <a:ext cx="8819281" cy="3139321"/>
          </a:xfrm>
          <a:prstGeom prst="rect">
            <a:avLst/>
          </a:prstGeom>
          <a:noFill/>
        </p:spPr>
        <p:txBody>
          <a:bodyPr wrap="square" rtlCol="0">
            <a:spAutoFit/>
          </a:bodyPr>
          <a:lstStyle/>
          <a:p>
            <a:r>
              <a:rPr lang="tr-TR" b="1" dirty="0" smtClean="0"/>
              <a:t>Kozmetik </a:t>
            </a:r>
            <a:r>
              <a:rPr lang="tr-TR" b="1" dirty="0" err="1" smtClean="0"/>
              <a:t>anlamı</a:t>
            </a:r>
            <a:r>
              <a:rPr lang="tr-TR" dirty="0" err="1" smtClean="0"/>
              <a:t>:Pembe</a:t>
            </a:r>
            <a:r>
              <a:rPr lang="tr-TR" dirty="0" smtClean="0"/>
              <a:t> renk, kozmetik ürünlerinde sağlıklı bir ışıltı, sıcaklık ve nazik bir güzellik sağlar, özellikle ruj ve allık gibi ürünlerde </a:t>
            </a:r>
            <a:r>
              <a:rPr lang="tr-TR" dirty="0" err="1" smtClean="0"/>
              <a:t>feminine</a:t>
            </a:r>
            <a:r>
              <a:rPr lang="tr-TR" dirty="0" smtClean="0"/>
              <a:t> ve doğal bir görünüm yaratır.</a:t>
            </a:r>
          </a:p>
          <a:p>
            <a:endParaRPr lang="tr-TR" dirty="0" smtClean="0"/>
          </a:p>
          <a:p>
            <a:r>
              <a:rPr lang="tr-TR" b="1" dirty="0" smtClean="0"/>
              <a:t>Sembolizm </a:t>
            </a:r>
            <a:r>
              <a:rPr lang="tr-TR" b="1" dirty="0" err="1" smtClean="0"/>
              <a:t>anlamı:</a:t>
            </a:r>
            <a:r>
              <a:rPr lang="tr-TR" dirty="0" err="1" smtClean="0"/>
              <a:t>Pembe</a:t>
            </a:r>
            <a:r>
              <a:rPr lang="tr-TR" dirty="0" smtClean="0"/>
              <a:t> renk, sembolizmde sevgi, şefkat, romantizm ve masumiyet ile ilişkilendirilirken, aynı zamanda neşe ve gençlik duyguları uyandırır.</a:t>
            </a:r>
          </a:p>
          <a:p>
            <a:endParaRPr lang="tr-TR" dirty="0" smtClean="0"/>
          </a:p>
          <a:p>
            <a:r>
              <a:rPr lang="tr-TR" b="1" dirty="0" smtClean="0"/>
              <a:t>Psikolojik </a:t>
            </a:r>
            <a:r>
              <a:rPr lang="tr-TR" b="1" dirty="0" err="1" smtClean="0"/>
              <a:t>anlamı:</a:t>
            </a:r>
            <a:r>
              <a:rPr lang="tr-TR" dirty="0" err="1" smtClean="0"/>
              <a:t>Pembe</a:t>
            </a:r>
            <a:r>
              <a:rPr lang="tr-TR" dirty="0" smtClean="0"/>
              <a:t> renk, psikolojik olarak huzur, nezaket ve sevgi hissi yaratırken, aynı zamanda stresi azaltarak insanları daha sakin ve güvende hissettirir</a:t>
            </a:r>
            <a:endParaRPr lang="tr-TR" dirty="0"/>
          </a:p>
        </p:txBody>
      </p:sp>
    </p:spTree>
    <p:extLst>
      <p:ext uri="{BB962C8B-B14F-4D97-AF65-F5344CB8AC3E}">
        <p14:creationId xmlns:p14="http://schemas.microsoft.com/office/powerpoint/2010/main" val="6435628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smtClean="0"/>
              <a:t>PEMBE RENGİNİ KULLANAN POPÜLER FİRMALAR</a:t>
            </a:r>
            <a:endParaRPr lang="tr-TR" dirty="0"/>
          </a:p>
        </p:txBody>
      </p:sp>
      <p:sp>
        <p:nvSpPr>
          <p:cNvPr id="4" name="İçerik Yer Tutucusu 3"/>
          <p:cNvSpPr>
            <a:spLocks noGrp="1"/>
          </p:cNvSpPr>
          <p:nvPr>
            <p:ph sz="half" idx="1"/>
          </p:nvPr>
        </p:nvSpPr>
        <p:spPr>
          <a:xfrm>
            <a:off x="5003432" y="81734"/>
            <a:ext cx="6269591" cy="2686633"/>
          </a:xfrm>
        </p:spPr>
        <p:txBody>
          <a:bodyPr>
            <a:noAutofit/>
          </a:bodyPr>
          <a:lstStyle/>
          <a:p>
            <a:r>
              <a:rPr lang="tr-TR" sz="1600" b="1" dirty="0"/>
              <a:t>1. T-Mobile</a:t>
            </a:r>
          </a:p>
          <a:p>
            <a:r>
              <a:rPr lang="tr-TR" sz="1600" b="1" dirty="0"/>
              <a:t>Renk Kullanım Yeri:</a:t>
            </a:r>
            <a:r>
              <a:rPr lang="tr-TR" sz="1600" dirty="0"/>
              <a:t> T-Mobile, logosunda ve genel marka tasarımında koyu pembe renk kullanmaktadır.</a:t>
            </a:r>
          </a:p>
          <a:p>
            <a:r>
              <a:rPr lang="tr-TR" sz="1600" b="1" dirty="0"/>
              <a:t>Rengin Anlamı:</a:t>
            </a:r>
            <a:r>
              <a:rPr lang="tr-TR" sz="1600" dirty="0"/>
              <a:t> Pembe renk, T-</a:t>
            </a:r>
            <a:r>
              <a:rPr lang="tr-TR" sz="1600" dirty="0" err="1"/>
              <a:t>Mobile'ın</a:t>
            </a:r>
            <a:r>
              <a:rPr lang="tr-TR" sz="1600" dirty="0"/>
              <a:t> markasında enerjik, dinamik ve modern bir hava yaratmayı amaçlar. Ayrıca, pembe, pozitif bir duyguyu çağrıştırır ve müşteri ile daha yakın, samimi bir ilişki kurmayı simgeler. Bu renk, markanın genç ve yenilikçi imajını pekiştirmektedir.</a:t>
            </a:r>
          </a:p>
        </p:txBody>
      </p:sp>
      <p:sp>
        <p:nvSpPr>
          <p:cNvPr id="5" name="İçerik Yer Tutucusu 4"/>
          <p:cNvSpPr>
            <a:spLocks noGrp="1"/>
          </p:cNvSpPr>
          <p:nvPr>
            <p:ph sz="half" idx="2"/>
          </p:nvPr>
        </p:nvSpPr>
        <p:spPr>
          <a:xfrm>
            <a:off x="5003432" y="3374353"/>
            <a:ext cx="7190999" cy="3483647"/>
          </a:xfrm>
        </p:spPr>
        <p:txBody>
          <a:bodyPr>
            <a:noAutofit/>
          </a:bodyPr>
          <a:lstStyle/>
          <a:p>
            <a:r>
              <a:rPr lang="tr-TR" sz="1600" b="1" dirty="0"/>
              <a:t>2. Barbie (Mattel)</a:t>
            </a:r>
          </a:p>
          <a:p>
            <a:r>
              <a:rPr lang="tr-TR" sz="1600" b="1" dirty="0"/>
              <a:t>Renk Kullanım Yeri:</a:t>
            </a:r>
            <a:r>
              <a:rPr lang="tr-TR" sz="1600" dirty="0"/>
              <a:t> Barbie markası, pembe rengi çok belirgin bir şekilde kullanır. Barbie'nin logosunda, ambalajında ve hatta karakterin kıyafetlerinde de pembe tonları sıkça görülür.</a:t>
            </a:r>
          </a:p>
          <a:p>
            <a:r>
              <a:rPr lang="tr-TR" sz="1600" b="1" dirty="0"/>
              <a:t>Rengin Anlamı:</a:t>
            </a:r>
            <a:r>
              <a:rPr lang="tr-TR" sz="1600" dirty="0"/>
              <a:t> Pembe, Barbie'nin "</a:t>
            </a:r>
            <a:r>
              <a:rPr lang="tr-TR" sz="1600" dirty="0" err="1"/>
              <a:t>feminen</a:t>
            </a:r>
            <a:r>
              <a:rPr lang="tr-TR" sz="1600" dirty="0"/>
              <a:t>" ve "neşeli" imajını pekiştirir. Ayrıca, pembe renk genellikle kadınsılık, zarafet ve masumiyet ile ilişkilendirilir. Barbie, bu rengi kullanarak genç kızlara yönelik eğlenceli ve renkli bir dünyayı ifade eder.</a:t>
            </a:r>
          </a:p>
        </p:txBody>
      </p:sp>
      <p:pic>
        <p:nvPicPr>
          <p:cNvPr id="6" name="Resi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2654" y="2438780"/>
            <a:ext cx="2499346" cy="1135921"/>
          </a:xfrm>
          <a:prstGeom prst="rect">
            <a:avLst/>
          </a:prstGeom>
        </p:spPr>
      </p:pic>
      <p:pic>
        <p:nvPicPr>
          <p:cNvPr id="7" name="Resim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0561" y="5788401"/>
            <a:ext cx="2479234" cy="906013"/>
          </a:xfrm>
          <a:prstGeom prst="rect">
            <a:avLst/>
          </a:prstGeom>
        </p:spPr>
      </p:pic>
    </p:spTree>
    <p:extLst>
      <p:ext uri="{BB962C8B-B14F-4D97-AF65-F5344CB8AC3E}">
        <p14:creationId xmlns:p14="http://schemas.microsoft.com/office/powerpoint/2010/main" val="13888665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591456" y="-394283"/>
            <a:ext cx="8679915" cy="1627465"/>
          </a:xfrm>
        </p:spPr>
        <p:txBody>
          <a:bodyPr/>
          <a:lstStyle/>
          <a:p>
            <a:r>
              <a:rPr lang="tr-TR" dirty="0" smtClean="0">
                <a:solidFill>
                  <a:schemeClr val="tx1">
                    <a:lumMod val="50000"/>
                    <a:lumOff val="50000"/>
                  </a:schemeClr>
                </a:solidFill>
              </a:rPr>
              <a:t>GRİ</a:t>
            </a:r>
            <a:endParaRPr lang="tr-TR" dirty="0">
              <a:solidFill>
                <a:schemeClr val="tx1">
                  <a:lumMod val="50000"/>
                  <a:lumOff val="50000"/>
                </a:schemeClr>
              </a:solidFill>
            </a:endParaRPr>
          </a:p>
        </p:txBody>
      </p:sp>
      <p:sp>
        <p:nvSpPr>
          <p:cNvPr id="7" name="Metin kutusu 6"/>
          <p:cNvSpPr txBox="1"/>
          <p:nvPr/>
        </p:nvSpPr>
        <p:spPr>
          <a:xfrm>
            <a:off x="1591456" y="1082180"/>
            <a:ext cx="10027296" cy="1200329"/>
          </a:xfrm>
          <a:prstGeom prst="rect">
            <a:avLst/>
          </a:prstGeom>
          <a:noFill/>
        </p:spPr>
        <p:txBody>
          <a:bodyPr wrap="square" rtlCol="0">
            <a:spAutoFit/>
          </a:bodyPr>
          <a:lstStyle/>
          <a:p>
            <a:r>
              <a:rPr lang="tr-TR" b="1" dirty="0" smtClean="0"/>
              <a:t>Pozitif </a:t>
            </a:r>
            <a:r>
              <a:rPr lang="tr-TR" b="1" dirty="0" err="1" smtClean="0"/>
              <a:t>etkisi</a:t>
            </a:r>
            <a:r>
              <a:rPr lang="tr-TR" dirty="0" err="1" smtClean="0"/>
              <a:t>:Denge</a:t>
            </a:r>
            <a:r>
              <a:rPr lang="tr-TR" dirty="0" smtClean="0"/>
              <a:t> ve zarafeti simgeler, sakinleştirici bir etkiye sahiptir.</a:t>
            </a:r>
          </a:p>
          <a:p>
            <a:r>
              <a:rPr lang="tr-TR" b="1" dirty="0" smtClean="0"/>
              <a:t>Negatif </a:t>
            </a:r>
            <a:r>
              <a:rPr lang="tr-TR" b="1" dirty="0" err="1" smtClean="0"/>
              <a:t>etkisi</a:t>
            </a:r>
            <a:r>
              <a:rPr lang="tr-TR" dirty="0" err="1" smtClean="0"/>
              <a:t>:Aşırı</a:t>
            </a:r>
            <a:r>
              <a:rPr lang="tr-TR" dirty="0" smtClean="0"/>
              <a:t> kullanıldığında, soğuk, sıkıcı ve duygusal olarak uzak bir atmosfer yaratabilir</a:t>
            </a:r>
          </a:p>
          <a:p>
            <a:endParaRPr lang="tr-TR" dirty="0"/>
          </a:p>
        </p:txBody>
      </p:sp>
      <p:sp>
        <p:nvSpPr>
          <p:cNvPr id="8" name="Metin kutusu 7"/>
          <p:cNvSpPr txBox="1"/>
          <p:nvPr/>
        </p:nvSpPr>
        <p:spPr>
          <a:xfrm>
            <a:off x="1591456" y="1947436"/>
            <a:ext cx="8791663" cy="3139321"/>
          </a:xfrm>
          <a:prstGeom prst="rect">
            <a:avLst/>
          </a:prstGeom>
          <a:noFill/>
        </p:spPr>
        <p:txBody>
          <a:bodyPr wrap="square" rtlCol="0">
            <a:spAutoFit/>
          </a:bodyPr>
          <a:lstStyle/>
          <a:p>
            <a:r>
              <a:rPr lang="tr-TR" b="1" dirty="0" smtClean="0"/>
              <a:t>Kozmetik </a:t>
            </a:r>
            <a:r>
              <a:rPr lang="tr-TR" b="1" dirty="0" err="1" smtClean="0"/>
              <a:t>anlamı:</a:t>
            </a:r>
            <a:r>
              <a:rPr lang="tr-TR" dirty="0" err="1" smtClean="0"/>
              <a:t>Kozmetik</a:t>
            </a:r>
            <a:r>
              <a:rPr lang="tr-TR" dirty="0" smtClean="0"/>
              <a:t> dünyasında gri, sofistike ve zarif bir renk olarak öne çıkar, genellikle göz makyajı, saç boyası ve tırnak ürünlerinde modern ve şık bir görünüm yaratmak için kullanılır</a:t>
            </a:r>
          </a:p>
          <a:p>
            <a:endParaRPr lang="tr-TR" dirty="0" smtClean="0"/>
          </a:p>
          <a:p>
            <a:r>
              <a:rPr lang="tr-TR" b="1" dirty="0" smtClean="0"/>
              <a:t>Sembolizm </a:t>
            </a:r>
            <a:r>
              <a:rPr lang="tr-TR" b="1" dirty="0" err="1" smtClean="0"/>
              <a:t>anlamı:</a:t>
            </a:r>
            <a:r>
              <a:rPr lang="tr-TR" dirty="0" err="1" smtClean="0"/>
              <a:t>Gri</a:t>
            </a:r>
            <a:r>
              <a:rPr lang="tr-TR" dirty="0" smtClean="0"/>
              <a:t>, sembolik olarak denge, tarafsızlık ve sakinlik ile ilişkilendirilir, aynı zamanda belirsizlik ve belirsiz durumları da ifade edebilir, çünkü ne tamamen beyaz ne de tamamen siyah bir ton olarak kabul edilir</a:t>
            </a:r>
          </a:p>
          <a:p>
            <a:endParaRPr lang="tr-TR" dirty="0" smtClean="0"/>
          </a:p>
          <a:p>
            <a:r>
              <a:rPr lang="tr-TR" b="1" dirty="0" smtClean="0"/>
              <a:t>Psikolojik </a:t>
            </a:r>
            <a:r>
              <a:rPr lang="tr-TR" b="1" dirty="0" err="1" smtClean="0"/>
              <a:t>anlamı:</a:t>
            </a:r>
            <a:r>
              <a:rPr lang="tr-TR" dirty="0" err="1" smtClean="0"/>
              <a:t>Psikolojik</a:t>
            </a:r>
            <a:r>
              <a:rPr lang="tr-TR" dirty="0" smtClean="0"/>
              <a:t> olarak gri, denge, tarafsızlık ve sakinlik hissi uyandırırken, aynı zamanda duygusal olarak soğuk ve belirsiz bir atmosfer yaratabilir, bazen kişiyi ruhsal olarak hareketsiz veya depresif hissettirebilir</a:t>
            </a:r>
            <a:endParaRPr lang="tr-TR" b="1" dirty="0"/>
          </a:p>
        </p:txBody>
      </p:sp>
    </p:spTree>
    <p:extLst>
      <p:ext uri="{BB962C8B-B14F-4D97-AF65-F5344CB8AC3E}">
        <p14:creationId xmlns:p14="http://schemas.microsoft.com/office/powerpoint/2010/main" val="40095951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smtClean="0"/>
              <a:t>GRİ RENGİNİ KULLANAN POPÜLER FİRMALAR</a:t>
            </a:r>
            <a:endParaRPr lang="tr-TR" dirty="0"/>
          </a:p>
        </p:txBody>
      </p:sp>
      <p:sp>
        <p:nvSpPr>
          <p:cNvPr id="4" name="İçerik Yer Tutucusu 3"/>
          <p:cNvSpPr>
            <a:spLocks noGrp="1"/>
          </p:cNvSpPr>
          <p:nvPr>
            <p:ph sz="half" idx="1"/>
          </p:nvPr>
        </p:nvSpPr>
        <p:spPr>
          <a:xfrm>
            <a:off x="4953098" y="1"/>
            <a:ext cx="7238902" cy="2919368"/>
          </a:xfrm>
        </p:spPr>
        <p:txBody>
          <a:bodyPr>
            <a:noAutofit/>
          </a:bodyPr>
          <a:lstStyle/>
          <a:p>
            <a:r>
              <a:rPr lang="tr-TR" sz="1600" b="1" dirty="0"/>
              <a:t>1. Apple</a:t>
            </a:r>
          </a:p>
          <a:p>
            <a:r>
              <a:rPr lang="tr-TR" sz="1600" b="1" dirty="0"/>
              <a:t>Renk Kullanım Yeri:</a:t>
            </a:r>
            <a:r>
              <a:rPr lang="tr-TR" sz="1600" dirty="0"/>
              <a:t> Apple, gri tonlarını özellikle ürünlerinin tasarımında kullanır. </a:t>
            </a:r>
            <a:r>
              <a:rPr lang="tr-TR" sz="1600" dirty="0" err="1"/>
              <a:t>iPhone</a:t>
            </a:r>
            <a:r>
              <a:rPr lang="tr-TR" sz="1600" dirty="0"/>
              <a:t>, </a:t>
            </a:r>
            <a:r>
              <a:rPr lang="tr-TR" sz="1600" dirty="0" err="1"/>
              <a:t>MacBook</a:t>
            </a:r>
            <a:r>
              <a:rPr lang="tr-TR" sz="1600" dirty="0"/>
              <a:t> ve </a:t>
            </a:r>
            <a:r>
              <a:rPr lang="tr-TR" sz="1600" dirty="0" err="1"/>
              <a:t>iPad</a:t>
            </a:r>
            <a:r>
              <a:rPr lang="tr-TR" sz="1600" dirty="0"/>
              <a:t> gibi cihazlarında genellikle "uzay grisi" adı verilen koyu gri tonları tercih edilir.</a:t>
            </a:r>
          </a:p>
          <a:p>
            <a:r>
              <a:rPr lang="tr-TR" sz="1600" b="1" dirty="0"/>
              <a:t>Rengin Anlamı:</a:t>
            </a:r>
            <a:r>
              <a:rPr lang="tr-TR" sz="1600" dirty="0"/>
              <a:t> Gri renk, </a:t>
            </a:r>
            <a:r>
              <a:rPr lang="tr-TR" sz="1600" dirty="0" err="1"/>
              <a:t>Apple'ın</a:t>
            </a:r>
            <a:r>
              <a:rPr lang="tr-TR" sz="1600" dirty="0"/>
              <a:t> </a:t>
            </a:r>
            <a:r>
              <a:rPr lang="tr-TR" sz="1600" dirty="0" err="1"/>
              <a:t>minimalist</a:t>
            </a:r>
            <a:r>
              <a:rPr lang="tr-TR" sz="1600" dirty="0"/>
              <a:t> ve modern tasarım anlayışını yansıtır. Aynı zamanda şıklığı ve zarafeti simgeler, markanın sofistike ve yenilikçi imajına katkı sağlar. Gri, </a:t>
            </a:r>
            <a:r>
              <a:rPr lang="tr-TR" sz="1600" dirty="0" err="1"/>
              <a:t>Apple'ın</a:t>
            </a:r>
            <a:r>
              <a:rPr lang="tr-TR" sz="1600" dirty="0"/>
              <a:t> teknoloji dünyasında lider ve estetik açıdan ileriye dönük bir marka imajı oluşturmasına yardımcı olur.</a:t>
            </a:r>
          </a:p>
        </p:txBody>
      </p:sp>
      <p:sp>
        <p:nvSpPr>
          <p:cNvPr id="5" name="İçerik Yer Tutucusu 4"/>
          <p:cNvSpPr>
            <a:spLocks noGrp="1"/>
          </p:cNvSpPr>
          <p:nvPr>
            <p:ph sz="half" idx="2"/>
          </p:nvPr>
        </p:nvSpPr>
        <p:spPr>
          <a:xfrm>
            <a:off x="4953098" y="3432831"/>
            <a:ext cx="7073553" cy="2753805"/>
          </a:xfrm>
        </p:spPr>
        <p:txBody>
          <a:bodyPr>
            <a:noAutofit/>
          </a:bodyPr>
          <a:lstStyle/>
          <a:p>
            <a:r>
              <a:rPr lang="tr-TR" sz="1600" b="1" dirty="0"/>
              <a:t>2. Mercedes-Benz</a:t>
            </a:r>
          </a:p>
          <a:p>
            <a:r>
              <a:rPr lang="tr-TR" sz="1600" b="1" dirty="0"/>
              <a:t>Renk Kullanım Yeri:</a:t>
            </a:r>
            <a:r>
              <a:rPr lang="tr-TR" sz="1600" dirty="0"/>
              <a:t> Mercedes-Benz, otomobillerinde genellikle gri tonlarını kullanır. Özellikle "dumanlı gri" veya "metalik gri" renkler, markanın araçlarının dış tasarımında yaygın olarak tercih edilir.</a:t>
            </a:r>
          </a:p>
          <a:p>
            <a:r>
              <a:rPr lang="tr-TR" sz="1600" b="1" dirty="0"/>
              <a:t>Rengin Anlamı:</a:t>
            </a:r>
            <a:r>
              <a:rPr lang="tr-TR" sz="1600" dirty="0"/>
              <a:t> Gri, Mercedes-Benz'in prestijli ve lüks imajını güçlendirir. Gri renk, güven, sağlamlık ve zarafetle ilişkilendirilir. Bu nedenle, markanın otomobillerine sofistike bir hava katarken aynı zamanda profesyonellik ve güvenilirlik mesajı verir.</a:t>
            </a:r>
          </a:p>
        </p:txBody>
      </p:sp>
      <p:pic>
        <p:nvPicPr>
          <p:cNvPr id="6" name="Resim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5671" y="2600586"/>
            <a:ext cx="1820980" cy="1237245"/>
          </a:xfrm>
          <a:prstGeom prst="rect">
            <a:avLst/>
          </a:prstGeom>
        </p:spPr>
      </p:pic>
      <p:pic>
        <p:nvPicPr>
          <p:cNvPr id="7" name="Resim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5671" y="5738205"/>
            <a:ext cx="1719744" cy="1119795"/>
          </a:xfrm>
          <a:prstGeom prst="rect">
            <a:avLst/>
          </a:prstGeom>
        </p:spPr>
      </p:pic>
    </p:spTree>
    <p:extLst>
      <p:ext uri="{BB962C8B-B14F-4D97-AF65-F5344CB8AC3E}">
        <p14:creationId xmlns:p14="http://schemas.microsoft.com/office/powerpoint/2010/main" val="14518394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759237" y="691320"/>
            <a:ext cx="8679915" cy="575417"/>
          </a:xfrm>
        </p:spPr>
        <p:txBody>
          <a:bodyPr>
            <a:normAutofit fontScale="90000"/>
          </a:bodyPr>
          <a:lstStyle/>
          <a:p>
            <a:r>
              <a:rPr lang="tr-TR" dirty="0" smtClean="0">
                <a:solidFill>
                  <a:schemeClr val="tx1"/>
                </a:solidFill>
              </a:rPr>
              <a:t>SİYAH</a:t>
            </a:r>
            <a:endParaRPr lang="tr-TR" dirty="0">
              <a:solidFill>
                <a:schemeClr val="tx1"/>
              </a:solidFill>
            </a:endParaRPr>
          </a:p>
        </p:txBody>
      </p:sp>
      <p:sp>
        <p:nvSpPr>
          <p:cNvPr id="10" name="Metin kutusu 9"/>
          <p:cNvSpPr txBox="1"/>
          <p:nvPr/>
        </p:nvSpPr>
        <p:spPr>
          <a:xfrm>
            <a:off x="1677798" y="1174459"/>
            <a:ext cx="9060110" cy="646331"/>
          </a:xfrm>
          <a:prstGeom prst="rect">
            <a:avLst/>
          </a:prstGeom>
          <a:noFill/>
        </p:spPr>
        <p:txBody>
          <a:bodyPr wrap="square" rtlCol="0">
            <a:spAutoFit/>
          </a:bodyPr>
          <a:lstStyle/>
          <a:p>
            <a:r>
              <a:rPr lang="tr-TR" b="1" dirty="0" smtClean="0">
                <a:solidFill>
                  <a:schemeClr val="bg1"/>
                </a:solidFill>
              </a:rPr>
              <a:t>Pozitif </a:t>
            </a:r>
            <a:r>
              <a:rPr lang="tr-TR" b="1" dirty="0" err="1" smtClean="0">
                <a:solidFill>
                  <a:schemeClr val="bg1"/>
                </a:solidFill>
              </a:rPr>
              <a:t>etkisi</a:t>
            </a:r>
            <a:r>
              <a:rPr lang="tr-TR" dirty="0" err="1" smtClean="0">
                <a:solidFill>
                  <a:schemeClr val="bg1"/>
                </a:solidFill>
              </a:rPr>
              <a:t>:Güç</a:t>
            </a:r>
            <a:r>
              <a:rPr lang="tr-TR" dirty="0" smtClean="0">
                <a:solidFill>
                  <a:schemeClr val="bg1"/>
                </a:solidFill>
              </a:rPr>
              <a:t>, zarafet ve ciddiyet hissi uyandırır,.</a:t>
            </a:r>
          </a:p>
          <a:p>
            <a:r>
              <a:rPr lang="tr-TR" b="1" dirty="0" smtClean="0">
                <a:solidFill>
                  <a:schemeClr val="bg1"/>
                </a:solidFill>
              </a:rPr>
              <a:t>Negatif </a:t>
            </a:r>
            <a:r>
              <a:rPr lang="tr-TR" b="1" dirty="0" err="1" smtClean="0">
                <a:solidFill>
                  <a:schemeClr val="bg1"/>
                </a:solidFill>
              </a:rPr>
              <a:t>etkisi</a:t>
            </a:r>
            <a:r>
              <a:rPr lang="tr-TR" dirty="0" err="1" smtClean="0">
                <a:solidFill>
                  <a:schemeClr val="bg1"/>
                </a:solidFill>
              </a:rPr>
              <a:t>:Aşırı</a:t>
            </a:r>
            <a:r>
              <a:rPr lang="tr-TR" dirty="0" smtClean="0">
                <a:solidFill>
                  <a:schemeClr val="bg1"/>
                </a:solidFill>
              </a:rPr>
              <a:t> kullanıldığında, karanlık, kasvetli bir ortam yaratabilir.</a:t>
            </a:r>
            <a:endParaRPr lang="tr-TR" b="1" dirty="0">
              <a:solidFill>
                <a:schemeClr val="bg1"/>
              </a:solidFill>
            </a:endParaRPr>
          </a:p>
        </p:txBody>
      </p:sp>
      <p:sp>
        <p:nvSpPr>
          <p:cNvPr id="11" name="Metin kutusu 10"/>
          <p:cNvSpPr txBox="1"/>
          <p:nvPr/>
        </p:nvSpPr>
        <p:spPr>
          <a:xfrm>
            <a:off x="1677798" y="2038525"/>
            <a:ext cx="8833608" cy="3139321"/>
          </a:xfrm>
          <a:prstGeom prst="rect">
            <a:avLst/>
          </a:prstGeom>
          <a:noFill/>
        </p:spPr>
        <p:txBody>
          <a:bodyPr wrap="square" rtlCol="0">
            <a:spAutoFit/>
          </a:bodyPr>
          <a:lstStyle/>
          <a:p>
            <a:r>
              <a:rPr lang="tr-TR" b="1" dirty="0" smtClean="0">
                <a:solidFill>
                  <a:schemeClr val="bg1"/>
                </a:solidFill>
              </a:rPr>
              <a:t>Kozmetik </a:t>
            </a:r>
            <a:r>
              <a:rPr lang="tr-TR" b="1" dirty="0" err="1" smtClean="0">
                <a:solidFill>
                  <a:schemeClr val="bg1"/>
                </a:solidFill>
              </a:rPr>
              <a:t>anlamı:</a:t>
            </a:r>
            <a:r>
              <a:rPr lang="tr-TR" dirty="0" err="1" smtClean="0">
                <a:solidFill>
                  <a:schemeClr val="bg1"/>
                </a:solidFill>
              </a:rPr>
              <a:t>Kozmetik</a:t>
            </a:r>
            <a:r>
              <a:rPr lang="tr-TR" dirty="0" smtClean="0">
                <a:solidFill>
                  <a:schemeClr val="bg1"/>
                </a:solidFill>
              </a:rPr>
              <a:t> dünyasında siyah, zarafet ve </a:t>
            </a:r>
            <a:r>
              <a:rPr lang="tr-TR" dirty="0" err="1" smtClean="0">
                <a:solidFill>
                  <a:schemeClr val="bg1"/>
                </a:solidFill>
              </a:rPr>
              <a:t>sofistikasyonu</a:t>
            </a:r>
            <a:r>
              <a:rPr lang="tr-TR" dirty="0" smtClean="0">
                <a:solidFill>
                  <a:schemeClr val="bg1"/>
                </a:solidFill>
              </a:rPr>
              <a:t> simgeler, genellikle göz makyajı, ruj ve tırnak ürünlerinde şıklık ve etkileyicilik yaratmak için kullanılır</a:t>
            </a:r>
          </a:p>
          <a:p>
            <a:r>
              <a:rPr lang="tr-TR" b="1" dirty="0" smtClean="0">
                <a:solidFill>
                  <a:schemeClr val="bg1"/>
                </a:solidFill>
              </a:rPr>
              <a:t>Sembolizm </a:t>
            </a:r>
            <a:r>
              <a:rPr lang="tr-TR" b="1" dirty="0" err="1" smtClean="0">
                <a:solidFill>
                  <a:schemeClr val="bg1"/>
                </a:solidFill>
              </a:rPr>
              <a:t>anlamı:</a:t>
            </a:r>
            <a:r>
              <a:rPr lang="tr-TR" dirty="0" err="1" smtClean="0">
                <a:solidFill>
                  <a:schemeClr val="bg1"/>
                </a:solidFill>
              </a:rPr>
              <a:t>Siyah</a:t>
            </a:r>
            <a:r>
              <a:rPr lang="tr-TR" dirty="0" smtClean="0">
                <a:solidFill>
                  <a:schemeClr val="bg1"/>
                </a:solidFill>
              </a:rPr>
              <a:t> renk, genellikle güç, otorite, zarafet ve gizemle ilişkilendirilir. Aynı zamanda ölüm, yas ve karanlık gibi olumsuz kavramları simgeleyebilir. Ancak, modern sembolizmde siyah, sofistike bir duruş ve derinlik de ifade eder</a:t>
            </a:r>
          </a:p>
          <a:p>
            <a:r>
              <a:rPr lang="tr-TR" b="1" dirty="0" smtClean="0">
                <a:solidFill>
                  <a:schemeClr val="bg1"/>
                </a:solidFill>
              </a:rPr>
              <a:t>Psikolojik </a:t>
            </a:r>
            <a:r>
              <a:rPr lang="tr-TR" b="1" dirty="0" err="1" smtClean="0">
                <a:solidFill>
                  <a:schemeClr val="bg1"/>
                </a:solidFill>
              </a:rPr>
              <a:t>anlamı:</a:t>
            </a:r>
            <a:r>
              <a:rPr lang="tr-TR" dirty="0" err="1" smtClean="0">
                <a:solidFill>
                  <a:schemeClr val="bg1"/>
                </a:solidFill>
              </a:rPr>
              <a:t>Psikolojik</a:t>
            </a:r>
            <a:r>
              <a:rPr lang="tr-TR" dirty="0" smtClean="0">
                <a:solidFill>
                  <a:schemeClr val="bg1"/>
                </a:solidFill>
              </a:rPr>
              <a:t> olarak siyah, güç, güven ve otorite hissi uyandırırken, aynı zamanda gizem ve belirsizlik de yaratabilir. Aşırı kullanıldığında ise, yalnızlık, karamsarlık ve depresyon gibi duyguları tetikleyebilir.</a:t>
            </a:r>
            <a:endParaRPr lang="tr-TR" b="1" dirty="0">
              <a:solidFill>
                <a:schemeClr val="bg1"/>
              </a:solidFill>
            </a:endParaRPr>
          </a:p>
        </p:txBody>
      </p:sp>
    </p:spTree>
    <p:extLst>
      <p:ext uri="{BB962C8B-B14F-4D97-AF65-F5344CB8AC3E}">
        <p14:creationId xmlns:p14="http://schemas.microsoft.com/office/powerpoint/2010/main" val="5027337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SİYAH RENGİNİ KULLANAN FİRMALAR</a:t>
            </a:r>
            <a:endParaRPr lang="tr-TR" dirty="0"/>
          </a:p>
        </p:txBody>
      </p:sp>
      <p:sp>
        <p:nvSpPr>
          <p:cNvPr id="4" name="İçerik Yer Tutucusu 3"/>
          <p:cNvSpPr>
            <a:spLocks noGrp="1"/>
          </p:cNvSpPr>
          <p:nvPr>
            <p:ph sz="half" idx="1"/>
          </p:nvPr>
        </p:nvSpPr>
        <p:spPr>
          <a:xfrm>
            <a:off x="4961487" y="73345"/>
            <a:ext cx="7230513" cy="3206750"/>
          </a:xfrm>
        </p:spPr>
        <p:txBody>
          <a:bodyPr>
            <a:noAutofit/>
          </a:bodyPr>
          <a:lstStyle/>
          <a:p>
            <a:r>
              <a:rPr lang="tr-TR" sz="1600" b="1" dirty="0"/>
              <a:t>1. </a:t>
            </a:r>
            <a:r>
              <a:rPr lang="tr-TR" sz="1600" b="1" dirty="0" err="1"/>
              <a:t>Nike</a:t>
            </a:r>
            <a:endParaRPr lang="tr-TR" sz="1600" b="1" dirty="0"/>
          </a:p>
          <a:p>
            <a:r>
              <a:rPr lang="tr-TR" sz="1600" b="1" dirty="0"/>
              <a:t>Renk Kullanım Yeri:</a:t>
            </a:r>
            <a:r>
              <a:rPr lang="tr-TR" sz="1600" dirty="0"/>
              <a:t> </a:t>
            </a:r>
            <a:r>
              <a:rPr lang="tr-TR" sz="1600" dirty="0" err="1"/>
              <a:t>Nike</a:t>
            </a:r>
            <a:r>
              <a:rPr lang="tr-TR" sz="1600" dirty="0"/>
              <a:t>, logosunda ve ürünlerinin tasarımlarında siyah rengi sıkça kullanır. Özellikle spor ayakkabıları, giyim koleksiyonları ve reklam kampanyalarında siyah dominant bir renk olarak öne çıkar.</a:t>
            </a:r>
          </a:p>
          <a:p>
            <a:r>
              <a:rPr lang="tr-TR" sz="1600" b="1" dirty="0"/>
              <a:t>Rengin Anlamı:</a:t>
            </a:r>
            <a:r>
              <a:rPr lang="tr-TR" sz="1600" dirty="0"/>
              <a:t> Siyah, </a:t>
            </a:r>
            <a:r>
              <a:rPr lang="tr-TR" sz="1600" dirty="0" err="1"/>
              <a:t>Nike'ın</a:t>
            </a:r>
            <a:r>
              <a:rPr lang="tr-TR" sz="1600" dirty="0"/>
              <a:t> gücü, dinamizmi ve profesyonelliği simgeler. Ayrıca siyah, spor ve performansla ilişkilendirilerek, markanın sofistike, modern ve cesur bir imaj yaratmasına yardımcı olur. Güçlü ve şık bir duruş sergileyen siyah, </a:t>
            </a:r>
            <a:r>
              <a:rPr lang="tr-TR" sz="1600" dirty="0" err="1"/>
              <a:t>Nike’ın</a:t>
            </a:r>
            <a:r>
              <a:rPr lang="tr-TR" sz="1600" dirty="0"/>
              <a:t> spor dünyasında liderliğini vurgular</a:t>
            </a:r>
          </a:p>
        </p:txBody>
      </p:sp>
      <p:sp>
        <p:nvSpPr>
          <p:cNvPr id="5" name="İçerik Yer Tutucusu 4"/>
          <p:cNvSpPr>
            <a:spLocks noGrp="1"/>
          </p:cNvSpPr>
          <p:nvPr>
            <p:ph sz="half" idx="2"/>
          </p:nvPr>
        </p:nvSpPr>
        <p:spPr>
          <a:xfrm>
            <a:off x="4961487" y="3248828"/>
            <a:ext cx="7073553" cy="2938363"/>
          </a:xfrm>
        </p:spPr>
        <p:txBody>
          <a:bodyPr>
            <a:noAutofit/>
          </a:bodyPr>
          <a:lstStyle/>
          <a:p>
            <a:r>
              <a:rPr lang="tr-TR" sz="1600" b="1" dirty="0"/>
              <a:t>2. </a:t>
            </a:r>
            <a:r>
              <a:rPr lang="tr-TR" sz="1600" b="1" dirty="0" err="1"/>
              <a:t>Chanel</a:t>
            </a:r>
            <a:endParaRPr lang="tr-TR" sz="1600" b="1" dirty="0"/>
          </a:p>
          <a:p>
            <a:r>
              <a:rPr lang="tr-TR" sz="1600" b="1" dirty="0"/>
              <a:t>Renk Kullanım Yeri:</a:t>
            </a:r>
            <a:r>
              <a:rPr lang="tr-TR" sz="1600" dirty="0"/>
              <a:t> </a:t>
            </a:r>
            <a:r>
              <a:rPr lang="tr-TR" sz="1600" dirty="0" err="1"/>
              <a:t>Chanel</a:t>
            </a:r>
            <a:r>
              <a:rPr lang="tr-TR" sz="1600" dirty="0"/>
              <a:t>, zarif ve lüks tasarımlarında siyah rengini çok belirgin bir şekilde kullanır. Özellikle "</a:t>
            </a:r>
            <a:r>
              <a:rPr lang="tr-TR" sz="1600" dirty="0" err="1"/>
              <a:t>Chanel</a:t>
            </a:r>
            <a:r>
              <a:rPr lang="tr-TR" sz="1600" dirty="0"/>
              <a:t> No. 5" parfümü ve ünlü siyah elbiseleri (küçük siyah elbise - "</a:t>
            </a:r>
            <a:r>
              <a:rPr lang="tr-TR" sz="1600" dirty="0" err="1"/>
              <a:t>Little</a:t>
            </a:r>
            <a:r>
              <a:rPr lang="tr-TR" sz="1600" dirty="0"/>
              <a:t> Black </a:t>
            </a:r>
            <a:r>
              <a:rPr lang="tr-TR" sz="1600" dirty="0" err="1"/>
              <a:t>Dress</a:t>
            </a:r>
            <a:r>
              <a:rPr lang="tr-TR" sz="1600" dirty="0"/>
              <a:t>") ile tanınır.</a:t>
            </a:r>
          </a:p>
          <a:p>
            <a:r>
              <a:rPr lang="tr-TR" sz="1600" b="1" dirty="0"/>
              <a:t>Rengin Anlamı:</a:t>
            </a:r>
            <a:r>
              <a:rPr lang="tr-TR" sz="1600" dirty="0"/>
              <a:t> Siyah, </a:t>
            </a:r>
            <a:r>
              <a:rPr lang="tr-TR" sz="1600" dirty="0" err="1"/>
              <a:t>Chanel</a:t>
            </a:r>
            <a:r>
              <a:rPr lang="tr-TR" sz="1600" dirty="0"/>
              <a:t> markasında zarafeti, lüksü ve zamansız şıklığı temsil eder. Siyah, aynı zamanda sadelik ve sofistike bir duruşla ilişkilendirilir. </a:t>
            </a:r>
            <a:r>
              <a:rPr lang="tr-TR" sz="1600" dirty="0" err="1"/>
              <a:t>Chanel</a:t>
            </a:r>
            <a:r>
              <a:rPr lang="tr-TR" sz="1600" dirty="0"/>
              <a:t>, bu rengi kullanarak yüksek kaliteli tasarımlarını ve prestijli imajını pekiştirir, marka kimliğini güçlü bir şekilde yansıtır</a:t>
            </a:r>
          </a:p>
        </p:txBody>
      </p:sp>
      <p:pic>
        <p:nvPicPr>
          <p:cNvPr id="6" name="Resi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71043" y="2971166"/>
            <a:ext cx="1363997" cy="816977"/>
          </a:xfrm>
          <a:prstGeom prst="rect">
            <a:avLst/>
          </a:prstGeom>
        </p:spPr>
      </p:pic>
      <p:pic>
        <p:nvPicPr>
          <p:cNvPr id="7" name="Resi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10738" y="6177916"/>
            <a:ext cx="1535185" cy="628864"/>
          </a:xfrm>
          <a:prstGeom prst="rect">
            <a:avLst/>
          </a:prstGeom>
        </p:spPr>
      </p:pic>
    </p:spTree>
    <p:extLst>
      <p:ext uri="{BB962C8B-B14F-4D97-AF65-F5344CB8AC3E}">
        <p14:creationId xmlns:p14="http://schemas.microsoft.com/office/powerpoint/2010/main" val="4467524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752749" y="322205"/>
            <a:ext cx="8679915" cy="860643"/>
          </a:xfrm>
        </p:spPr>
        <p:txBody>
          <a:bodyPr>
            <a:normAutofit fontScale="90000"/>
          </a:bodyPr>
          <a:lstStyle/>
          <a:p>
            <a:r>
              <a:rPr lang="tr-TR" dirty="0" smtClean="0">
                <a:solidFill>
                  <a:schemeClr val="accent1"/>
                </a:solidFill>
              </a:rPr>
              <a:t>BEYAZ</a:t>
            </a:r>
            <a:endParaRPr lang="tr-TR" dirty="0">
              <a:solidFill>
                <a:schemeClr val="accent1"/>
              </a:solidFill>
            </a:endParaRPr>
          </a:p>
        </p:txBody>
      </p:sp>
      <p:sp>
        <p:nvSpPr>
          <p:cNvPr id="7" name="Metin kutusu 6"/>
          <p:cNvSpPr txBox="1"/>
          <p:nvPr/>
        </p:nvSpPr>
        <p:spPr>
          <a:xfrm>
            <a:off x="1560353" y="1182848"/>
            <a:ext cx="8498048"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:saflık</a:t>
            </a:r>
            <a:r>
              <a:rPr lang="tr-TR" dirty="0" smtClean="0"/>
              <a:t>, temizlik ve ferahlık hissi uyandırarak, zihinsel netlik sağlar</a:t>
            </a:r>
          </a:p>
          <a:p>
            <a:r>
              <a:rPr lang="tr-TR" b="1" dirty="0" smtClean="0"/>
              <a:t>Negatif </a:t>
            </a:r>
            <a:r>
              <a:rPr lang="tr-TR" b="1" dirty="0" err="1" smtClean="0"/>
              <a:t>etkisi:</a:t>
            </a:r>
            <a:r>
              <a:rPr lang="tr-TR" dirty="0" err="1" smtClean="0"/>
              <a:t>aşırı</a:t>
            </a:r>
            <a:r>
              <a:rPr lang="tr-TR" dirty="0" smtClean="0"/>
              <a:t> kullanıldığında, soğuk ve steril bir atmosfer yaratabilir</a:t>
            </a:r>
            <a:endParaRPr lang="tr-TR" b="1" dirty="0"/>
          </a:p>
        </p:txBody>
      </p:sp>
      <p:sp>
        <p:nvSpPr>
          <p:cNvPr id="8" name="Metin kutusu 7"/>
          <p:cNvSpPr txBox="1"/>
          <p:nvPr/>
        </p:nvSpPr>
        <p:spPr>
          <a:xfrm>
            <a:off x="1560353" y="1926046"/>
            <a:ext cx="8754866" cy="2862322"/>
          </a:xfrm>
          <a:prstGeom prst="rect">
            <a:avLst/>
          </a:prstGeom>
          <a:noFill/>
        </p:spPr>
        <p:txBody>
          <a:bodyPr wrap="square" rtlCol="0">
            <a:spAutoFit/>
          </a:bodyPr>
          <a:lstStyle/>
          <a:p>
            <a:r>
              <a:rPr lang="tr-TR" b="1" dirty="0" smtClean="0"/>
              <a:t>Kozmetik </a:t>
            </a:r>
            <a:r>
              <a:rPr lang="tr-TR" b="1" dirty="0" err="1" smtClean="0"/>
              <a:t>anlamı:</a:t>
            </a:r>
            <a:r>
              <a:rPr lang="tr-TR" dirty="0" err="1" smtClean="0"/>
              <a:t>Kozmetik</a:t>
            </a:r>
            <a:r>
              <a:rPr lang="tr-TR" dirty="0" smtClean="0"/>
              <a:t> dünyasında beyaz, saf, temiz ve doğal bir görünüm yaratır. Genellikle cilt bakım ürünlerinde, fondöten ve aydınlatıcı gibi ürünlerde parlaklık ve tazelik hissi uyandırmak için kullanılır</a:t>
            </a:r>
          </a:p>
          <a:p>
            <a:r>
              <a:rPr lang="tr-TR" b="1" dirty="0" smtClean="0"/>
              <a:t>Sembolizm </a:t>
            </a:r>
            <a:r>
              <a:rPr lang="tr-TR" b="1" dirty="0" err="1" smtClean="0"/>
              <a:t>anlamı:</a:t>
            </a:r>
            <a:r>
              <a:rPr lang="tr-TR" dirty="0" err="1" smtClean="0"/>
              <a:t>Beyaz</a:t>
            </a:r>
            <a:r>
              <a:rPr lang="tr-TR" dirty="0" smtClean="0"/>
              <a:t> renk, genellikle saflık, temizlik, barış ve masumiyetle ilişkilendirilir. Ayrıca, yeni başlangıçlar, tazelik ve umut gibi olumlu semboller taşır. Ancak bazı kültürlerde ölüm ve yas ile de bağlantılı olabilir.</a:t>
            </a:r>
          </a:p>
          <a:p>
            <a:r>
              <a:rPr lang="tr-TR" b="1" dirty="0" smtClean="0"/>
              <a:t>Psikolojik </a:t>
            </a:r>
            <a:r>
              <a:rPr lang="tr-TR" b="1" dirty="0" err="1" smtClean="0"/>
              <a:t>anlamı:</a:t>
            </a:r>
            <a:r>
              <a:rPr lang="tr-TR" dirty="0" err="1" smtClean="0"/>
              <a:t>Psikolojik</a:t>
            </a:r>
            <a:r>
              <a:rPr lang="tr-TR" dirty="0" smtClean="0"/>
              <a:t> olarak beyaz, zihinsel netlik, huzur ve tazelik hissi uyandırır. Ferahlatıcı ve sakinleştirici etkisiyle, genellikle rahatlama ve düzen duygusu yaratır. Ancak aşırı kullanıldığında, yalnızlık veya boşluk hissi de uyandırabilir.</a:t>
            </a:r>
            <a:endParaRPr lang="tr-TR" b="1" dirty="0"/>
          </a:p>
        </p:txBody>
      </p:sp>
    </p:spTree>
    <p:extLst>
      <p:ext uri="{BB962C8B-B14F-4D97-AF65-F5344CB8AC3E}">
        <p14:creationId xmlns:p14="http://schemas.microsoft.com/office/powerpoint/2010/main" val="11131264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normAutofit/>
          </a:bodyPr>
          <a:lstStyle/>
          <a:p>
            <a:r>
              <a:rPr lang="tr-TR" dirty="0" smtClean="0"/>
              <a:t>BEYAZ RENGİNİ KULLANAN POPÜLER FİRMALAR</a:t>
            </a:r>
            <a:endParaRPr lang="tr-TR" dirty="0"/>
          </a:p>
        </p:txBody>
      </p:sp>
      <p:sp>
        <p:nvSpPr>
          <p:cNvPr id="4" name="İçerik Yer Tutucusu 3"/>
          <p:cNvSpPr>
            <a:spLocks noGrp="1"/>
          </p:cNvSpPr>
          <p:nvPr>
            <p:ph sz="half" idx="1"/>
          </p:nvPr>
        </p:nvSpPr>
        <p:spPr>
          <a:xfrm>
            <a:off x="5118447" y="0"/>
            <a:ext cx="7073553" cy="2877424"/>
          </a:xfrm>
        </p:spPr>
        <p:txBody>
          <a:bodyPr>
            <a:noAutofit/>
          </a:bodyPr>
          <a:lstStyle/>
          <a:p>
            <a:r>
              <a:rPr lang="tr-TR" sz="1600" b="1" dirty="0"/>
              <a:t>1. Apple</a:t>
            </a:r>
          </a:p>
          <a:p>
            <a:r>
              <a:rPr lang="tr-TR" sz="1600" b="1" dirty="0"/>
              <a:t>Renk Kullanım Yeri:</a:t>
            </a:r>
            <a:r>
              <a:rPr lang="tr-TR" sz="1600" dirty="0"/>
              <a:t> Apple, özellikle ürünlerinin tasarımlarında beyaz rengi kullanır. </a:t>
            </a:r>
            <a:r>
              <a:rPr lang="tr-TR" sz="1600" dirty="0" err="1"/>
              <a:t>iPhone</a:t>
            </a:r>
            <a:r>
              <a:rPr lang="tr-TR" sz="1600" dirty="0"/>
              <a:t>, </a:t>
            </a:r>
            <a:r>
              <a:rPr lang="tr-TR" sz="1600" dirty="0" err="1"/>
              <a:t>iPad</a:t>
            </a:r>
            <a:r>
              <a:rPr lang="tr-TR" sz="1600" dirty="0"/>
              <a:t> ve </a:t>
            </a:r>
            <a:r>
              <a:rPr lang="tr-TR" sz="1600" dirty="0" err="1"/>
              <a:t>MacBook</a:t>
            </a:r>
            <a:r>
              <a:rPr lang="tr-TR" sz="1600" dirty="0"/>
              <a:t> gibi ürünlerde beyaz tonları ve </a:t>
            </a:r>
            <a:r>
              <a:rPr lang="tr-TR" sz="1600" dirty="0" err="1"/>
              <a:t>minimalist</a:t>
            </a:r>
            <a:r>
              <a:rPr lang="tr-TR" sz="1600" dirty="0"/>
              <a:t> tasarımlar öne çıkar.</a:t>
            </a:r>
          </a:p>
          <a:p>
            <a:r>
              <a:rPr lang="tr-TR" sz="1600" b="1" dirty="0"/>
              <a:t>Rengin Anlamı:</a:t>
            </a:r>
            <a:r>
              <a:rPr lang="tr-TR" sz="1600" dirty="0"/>
              <a:t> Beyaz, </a:t>
            </a:r>
            <a:r>
              <a:rPr lang="tr-TR" sz="1600" dirty="0" err="1"/>
              <a:t>Apple'ın</a:t>
            </a:r>
            <a:r>
              <a:rPr lang="tr-TR" sz="1600" dirty="0"/>
              <a:t> sade, şık ve modern tasarım anlayışını yansıtır. Ayrıca, saflık, temizlik ve yenilikçiliği simgeler. Beyazın kullanımı, </a:t>
            </a:r>
            <a:r>
              <a:rPr lang="tr-TR" sz="1600" dirty="0" err="1"/>
              <a:t>Apple’ın</a:t>
            </a:r>
            <a:r>
              <a:rPr lang="tr-TR" sz="1600" dirty="0"/>
              <a:t> sofistike ve yüksek kaliteli ürünlerini vurgularken, aynı zamanda kullanıcılarına ferah ve kullanıcı dostu bir deneyim sunma amacını taşır.</a:t>
            </a:r>
          </a:p>
        </p:txBody>
      </p:sp>
      <p:sp>
        <p:nvSpPr>
          <p:cNvPr id="5" name="İçerik Yer Tutucusu 4"/>
          <p:cNvSpPr>
            <a:spLocks noGrp="1"/>
          </p:cNvSpPr>
          <p:nvPr>
            <p:ph sz="half" idx="2"/>
          </p:nvPr>
        </p:nvSpPr>
        <p:spPr>
          <a:xfrm>
            <a:off x="5118446" y="3034599"/>
            <a:ext cx="7073553" cy="3676594"/>
          </a:xfrm>
        </p:spPr>
        <p:txBody>
          <a:bodyPr>
            <a:noAutofit/>
          </a:bodyPr>
          <a:lstStyle/>
          <a:p>
            <a:r>
              <a:rPr lang="tr-TR" sz="1600" b="1" dirty="0"/>
              <a:t>2. </a:t>
            </a:r>
            <a:r>
              <a:rPr lang="tr-TR" sz="1600" b="1" dirty="0" err="1"/>
              <a:t>Nike</a:t>
            </a:r>
            <a:endParaRPr lang="tr-TR" sz="1600" b="1" dirty="0"/>
          </a:p>
          <a:p>
            <a:r>
              <a:rPr lang="tr-TR" sz="1600" b="1" dirty="0"/>
              <a:t>Renk Kullanım Yeri: </a:t>
            </a:r>
            <a:r>
              <a:rPr lang="tr-TR" sz="1600" dirty="0" err="1"/>
              <a:t>Nike</a:t>
            </a:r>
            <a:r>
              <a:rPr lang="tr-TR" sz="1600" dirty="0"/>
              <a:t>, spor ayakkabıları ve giyim koleksiyonlarında beyazı sıkça kullanır. Özellikle beyaz spor ayakkabılar ve </a:t>
            </a:r>
            <a:r>
              <a:rPr lang="tr-TR" sz="1600" dirty="0" err="1"/>
              <a:t>minimalist</a:t>
            </a:r>
            <a:r>
              <a:rPr lang="tr-TR" sz="1600" dirty="0"/>
              <a:t> tasarımlar markanın imajında önemli bir yer tutar.</a:t>
            </a:r>
          </a:p>
          <a:p>
            <a:r>
              <a:rPr lang="tr-TR" sz="1600" b="1" dirty="0"/>
              <a:t>Rengin Anlamı: </a:t>
            </a:r>
            <a:r>
              <a:rPr lang="tr-TR" sz="1600" dirty="0"/>
              <a:t>Beyaz renk, </a:t>
            </a:r>
            <a:r>
              <a:rPr lang="tr-TR" sz="1600" dirty="0" err="1"/>
              <a:t>Nike'ın</a:t>
            </a:r>
            <a:r>
              <a:rPr lang="tr-TR" sz="1600" dirty="0"/>
              <a:t> modern, temiz ve enerji dolu imajını yansıtır. Ayrıca, hareketlilik ve tazelik hissi uyandırarak, markanın genç ve dinamik hedef kitlesine hitap eder. Beyaz, aynı zamanda saf ve yenilikçi bir yaklaşımı simgeler, bu da </a:t>
            </a:r>
            <a:r>
              <a:rPr lang="tr-TR" sz="1600" dirty="0" err="1"/>
              <a:t>Nike'ın</a:t>
            </a:r>
            <a:r>
              <a:rPr lang="tr-TR" sz="1600" dirty="0"/>
              <a:t> spor ve moda dünyasındaki öncülüğünü pekiştirir.</a:t>
            </a:r>
          </a:p>
        </p:txBody>
      </p:sp>
      <p:pic>
        <p:nvPicPr>
          <p:cNvPr id="7" name="Resi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7791" y="5972961"/>
            <a:ext cx="1761688" cy="679509"/>
          </a:xfrm>
          <a:prstGeom prst="rect">
            <a:avLst/>
          </a:prstGeom>
          <a:ln>
            <a:noFill/>
          </a:ln>
          <a:effectLst>
            <a:softEdge rad="112500"/>
          </a:effectLst>
        </p:spPr>
      </p:pic>
      <p:pic>
        <p:nvPicPr>
          <p:cNvPr id="8" name="Resim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15636" y="2642531"/>
            <a:ext cx="1376363" cy="932169"/>
          </a:xfrm>
          <a:prstGeom prst="rect">
            <a:avLst/>
          </a:prstGeom>
        </p:spPr>
      </p:pic>
    </p:spTree>
    <p:extLst>
      <p:ext uri="{BB962C8B-B14F-4D97-AF65-F5344CB8AC3E}">
        <p14:creationId xmlns:p14="http://schemas.microsoft.com/office/powerpoint/2010/main" val="6823701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4"/>
          <p:cNvSpPr>
            <a:spLocks noGrp="1"/>
          </p:cNvSpPr>
          <p:nvPr>
            <p:ph type="ctrTitle"/>
          </p:nvPr>
        </p:nvSpPr>
        <p:spPr>
          <a:xfrm>
            <a:off x="1759237" y="243281"/>
            <a:ext cx="8679915" cy="971976"/>
          </a:xfrm>
        </p:spPr>
        <p:txBody>
          <a:bodyPr/>
          <a:lstStyle/>
          <a:p>
            <a:r>
              <a:rPr lang="tr-TR" dirty="0" smtClean="0">
                <a:solidFill>
                  <a:schemeClr val="accent1"/>
                </a:solidFill>
              </a:rPr>
              <a:t>KAHVERENGİ</a:t>
            </a:r>
            <a:endParaRPr lang="tr-TR" dirty="0">
              <a:solidFill>
                <a:schemeClr val="accent1"/>
              </a:solidFill>
            </a:endParaRPr>
          </a:p>
        </p:txBody>
      </p:sp>
      <p:sp>
        <p:nvSpPr>
          <p:cNvPr id="7" name="Metin kutusu 6"/>
          <p:cNvSpPr txBox="1"/>
          <p:nvPr/>
        </p:nvSpPr>
        <p:spPr>
          <a:xfrm>
            <a:off x="1669410" y="1149292"/>
            <a:ext cx="8858773" cy="646331"/>
          </a:xfrm>
          <a:prstGeom prst="rect">
            <a:avLst/>
          </a:prstGeom>
          <a:noFill/>
        </p:spPr>
        <p:txBody>
          <a:bodyPr wrap="square" rtlCol="0">
            <a:spAutoFit/>
          </a:bodyPr>
          <a:lstStyle/>
          <a:p>
            <a:r>
              <a:rPr lang="tr-TR" b="1" dirty="0" smtClean="0"/>
              <a:t>Pozitif </a:t>
            </a:r>
            <a:r>
              <a:rPr lang="tr-TR" b="1" dirty="0" err="1" smtClean="0"/>
              <a:t>etkisi:</a:t>
            </a:r>
            <a:r>
              <a:rPr lang="tr-TR" dirty="0" err="1" smtClean="0"/>
              <a:t>Güven,stabalite,duygusal</a:t>
            </a:r>
            <a:r>
              <a:rPr lang="tr-TR" dirty="0" smtClean="0"/>
              <a:t> </a:t>
            </a:r>
            <a:r>
              <a:rPr lang="tr-TR" dirty="0" err="1" smtClean="0"/>
              <a:t>denge,sadelik</a:t>
            </a:r>
            <a:r>
              <a:rPr lang="tr-TR" dirty="0" smtClean="0"/>
              <a:t> ve doğallık</a:t>
            </a:r>
          </a:p>
          <a:p>
            <a:r>
              <a:rPr lang="tr-TR" b="1" dirty="0" smtClean="0"/>
              <a:t>Negatif </a:t>
            </a:r>
            <a:r>
              <a:rPr lang="tr-TR" b="1" dirty="0" err="1" smtClean="0"/>
              <a:t>etkisi:</a:t>
            </a:r>
            <a:r>
              <a:rPr lang="tr-TR" dirty="0" err="1" smtClean="0"/>
              <a:t>Ağırlık,baskı,sıkıcılık,düşük</a:t>
            </a:r>
            <a:r>
              <a:rPr lang="tr-TR" dirty="0" smtClean="0"/>
              <a:t> enerji ve soğukluk</a:t>
            </a:r>
            <a:endParaRPr lang="tr-TR" dirty="0"/>
          </a:p>
        </p:txBody>
      </p:sp>
      <p:sp>
        <p:nvSpPr>
          <p:cNvPr id="8" name="Metin kutusu 7"/>
          <p:cNvSpPr txBox="1"/>
          <p:nvPr/>
        </p:nvSpPr>
        <p:spPr>
          <a:xfrm>
            <a:off x="1669410" y="2028880"/>
            <a:ext cx="8942664" cy="3416320"/>
          </a:xfrm>
          <a:prstGeom prst="rect">
            <a:avLst/>
          </a:prstGeom>
          <a:noFill/>
        </p:spPr>
        <p:txBody>
          <a:bodyPr wrap="square" rtlCol="0">
            <a:spAutoFit/>
          </a:bodyPr>
          <a:lstStyle/>
          <a:p>
            <a:r>
              <a:rPr lang="tr-TR" b="1" dirty="0" smtClean="0"/>
              <a:t>Kozmetik </a:t>
            </a:r>
            <a:r>
              <a:rPr lang="tr-TR" b="1" dirty="0" err="1" smtClean="0"/>
              <a:t>anlamı</a:t>
            </a:r>
            <a:r>
              <a:rPr lang="tr-TR" dirty="0" err="1" smtClean="0"/>
              <a:t>:Kahverengi</a:t>
            </a:r>
            <a:r>
              <a:rPr lang="tr-TR" dirty="0" smtClean="0"/>
              <a:t>, kozmetik dünyasında doğal, sıcak ve zarif bir görünüm yaratmak için tercih edilen bir renk tonudur; özellikle makyajda cilt tonunu dengeleyerek, doğal bir ışıltı ve derinlik kazandırmak amacıyla kullanılır</a:t>
            </a:r>
          </a:p>
          <a:p>
            <a:r>
              <a:rPr lang="tr-TR" b="1" dirty="0" smtClean="0"/>
              <a:t>Sembolizm </a:t>
            </a:r>
            <a:r>
              <a:rPr lang="tr-TR" b="1" dirty="0" err="1" smtClean="0"/>
              <a:t>anlamı:</a:t>
            </a:r>
            <a:r>
              <a:rPr lang="tr-TR" dirty="0" err="1" smtClean="0"/>
              <a:t>Kahverengi</a:t>
            </a:r>
            <a:r>
              <a:rPr lang="tr-TR" dirty="0" smtClean="0"/>
              <a:t>, sembolizmde güven, toprak, dayanıklılık ve köklerle ilişkilendirilir; aynı zamanda doğanın ve sadeliğin simgesi olarak, huzur ve istikrar duygusu yaratır.</a:t>
            </a:r>
          </a:p>
          <a:p>
            <a:r>
              <a:rPr lang="tr-TR" b="1" dirty="0" smtClean="0"/>
              <a:t>Psikolojik </a:t>
            </a:r>
            <a:r>
              <a:rPr lang="tr-TR" b="1" dirty="0" err="1" smtClean="0"/>
              <a:t>anlamı:</a:t>
            </a:r>
            <a:r>
              <a:rPr lang="tr-TR" dirty="0" err="1" smtClean="0"/>
              <a:t>Kahverengi</a:t>
            </a:r>
            <a:r>
              <a:rPr lang="tr-TR" dirty="0" smtClean="0"/>
              <a:t>, psikolojik olarak güven, istikrar ve toprakla bağlantılıdır. Bu renk, güven verici ve rahatlatıcı bir etki yaratırken, aynı zamanda sadelik, güvenilirlik ve gerçekçilik duygusu uyandırır. Ancak, fazla kullanıldığında monotonluk ve sıkıcılık hissi verebilir. Kahverengi, insanların kendilerini güvende ve köklenmiş hissetmelerine yardımcı olabilir, ancak aşırı yoğun kullanımı, duygusal olarak soğuk ve yalnız bir atmosfer yaratabilir</a:t>
            </a:r>
            <a:endParaRPr lang="tr-TR" b="1" dirty="0"/>
          </a:p>
        </p:txBody>
      </p:sp>
    </p:spTree>
    <p:extLst>
      <p:ext uri="{BB962C8B-B14F-4D97-AF65-F5344CB8AC3E}">
        <p14:creationId xmlns:p14="http://schemas.microsoft.com/office/powerpoint/2010/main" val="41631262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normAutofit fontScale="90000"/>
          </a:bodyPr>
          <a:lstStyle/>
          <a:p>
            <a:r>
              <a:rPr lang="tr-TR" dirty="0" smtClean="0"/>
              <a:t>KAHVERENGİ RENGİNİ KULLANAN POPÜLER FİRMALAR</a:t>
            </a:r>
            <a:endParaRPr lang="tr-TR" dirty="0"/>
          </a:p>
        </p:txBody>
      </p:sp>
      <p:sp>
        <p:nvSpPr>
          <p:cNvPr id="5" name="İçerik Yer Tutucusu 4"/>
          <p:cNvSpPr>
            <a:spLocks noGrp="1"/>
          </p:cNvSpPr>
          <p:nvPr>
            <p:ph sz="half" idx="1"/>
          </p:nvPr>
        </p:nvSpPr>
        <p:spPr>
          <a:xfrm>
            <a:off x="5118447" y="0"/>
            <a:ext cx="7073553" cy="2978092"/>
          </a:xfrm>
        </p:spPr>
        <p:txBody>
          <a:bodyPr>
            <a:noAutofit/>
          </a:bodyPr>
          <a:lstStyle/>
          <a:p>
            <a:r>
              <a:rPr lang="tr-TR" sz="1600" b="1" dirty="0"/>
              <a:t>UPS (United </a:t>
            </a:r>
            <a:r>
              <a:rPr lang="tr-TR" sz="1600" b="1" dirty="0" err="1"/>
              <a:t>Parcel</a:t>
            </a:r>
            <a:r>
              <a:rPr lang="tr-TR" sz="1600" b="1" dirty="0"/>
              <a:t> Service)</a:t>
            </a:r>
            <a:endParaRPr lang="tr-TR" sz="1600" dirty="0"/>
          </a:p>
          <a:p>
            <a:r>
              <a:rPr lang="tr-TR" sz="1600" b="1" dirty="0"/>
              <a:t>Renk Kullanımı</a:t>
            </a:r>
            <a:r>
              <a:rPr lang="tr-TR" sz="1600" dirty="0"/>
              <a:t>: UPS, şirket logosunda ve tüm kurumsal kimliğinde kahverengi rengi kullanmaktadır. Özellikle kamyonlar, ambalajlar ve kurumsal araçlarında bu renk yaygındır.</a:t>
            </a:r>
          </a:p>
          <a:p>
            <a:r>
              <a:rPr lang="tr-TR" sz="1600" b="1" dirty="0"/>
              <a:t>Anlamı</a:t>
            </a:r>
            <a:r>
              <a:rPr lang="tr-TR" sz="1600" dirty="0"/>
              <a:t>: Kahverengi, </a:t>
            </a:r>
            <a:r>
              <a:rPr lang="tr-TR" sz="1600" dirty="0" err="1"/>
              <a:t>UPS'in</a:t>
            </a:r>
            <a:r>
              <a:rPr lang="tr-TR" sz="1600" dirty="0"/>
              <a:t> güven, istikrar ve dayanıklılık gibi değerlerini vurgulamak için tercih edilmiştir. Bu renk, firmanın güvenilirlik ve güçlü bir altyapı imajı oluşturmasına yardımcı olur</a:t>
            </a:r>
          </a:p>
        </p:txBody>
      </p:sp>
      <p:sp>
        <p:nvSpPr>
          <p:cNvPr id="6" name="İçerik Yer Tutucusu 5"/>
          <p:cNvSpPr>
            <a:spLocks noGrp="1"/>
          </p:cNvSpPr>
          <p:nvPr>
            <p:ph sz="half" idx="2"/>
          </p:nvPr>
        </p:nvSpPr>
        <p:spPr>
          <a:xfrm>
            <a:off x="5118446" y="3672162"/>
            <a:ext cx="7073553" cy="2383586"/>
          </a:xfrm>
        </p:spPr>
        <p:txBody>
          <a:bodyPr>
            <a:noAutofit/>
          </a:bodyPr>
          <a:lstStyle/>
          <a:p>
            <a:r>
              <a:rPr lang="tr-TR" sz="1600" b="1" dirty="0" err="1"/>
              <a:t>M&amp;M's</a:t>
            </a:r>
            <a:r>
              <a:rPr lang="tr-TR" sz="1600" dirty="0"/>
              <a:t> (Mars, </a:t>
            </a:r>
            <a:r>
              <a:rPr lang="tr-TR" sz="1600" dirty="0" err="1"/>
              <a:t>Incorporated</a:t>
            </a:r>
            <a:r>
              <a:rPr lang="tr-TR" sz="1600" dirty="0"/>
              <a:t>)</a:t>
            </a:r>
          </a:p>
          <a:p>
            <a:r>
              <a:rPr lang="tr-TR" sz="1600" b="1" dirty="0"/>
              <a:t>Renk Kullanımı</a:t>
            </a:r>
            <a:r>
              <a:rPr lang="tr-TR" sz="1600" dirty="0"/>
              <a:t>: </a:t>
            </a:r>
            <a:r>
              <a:rPr lang="tr-TR" sz="1600" dirty="0" err="1"/>
              <a:t>M&amp;M's'in</a:t>
            </a:r>
            <a:r>
              <a:rPr lang="tr-TR" sz="1600" dirty="0"/>
              <a:t> çikolata paketlerinde, özellikle kahverengi şekerlemelerin ambalajında ve reklamlarında kahverengi rengi kullanılır.</a:t>
            </a:r>
          </a:p>
          <a:p>
            <a:r>
              <a:rPr lang="tr-TR" sz="1600" b="1" dirty="0"/>
              <a:t>Anlamı</a:t>
            </a:r>
            <a:r>
              <a:rPr lang="tr-TR" sz="1600" dirty="0"/>
              <a:t>: Kahverengi, çikolatanın doğal rengini temsil eder ve markanın temel ürünü olan çikolatanın taze ve lezzetli olduğunu simgeler. Ayrıca, kahverengi renk, sıcaklık, samimiyet ve geleneksel bir hissiyat yaratır</a:t>
            </a:r>
          </a:p>
        </p:txBody>
      </p:sp>
      <p:pic>
        <p:nvPicPr>
          <p:cNvPr id="7" name="Resi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8770" y="2457113"/>
            <a:ext cx="1336209" cy="1215049"/>
          </a:xfrm>
          <a:prstGeom prst="rect">
            <a:avLst/>
          </a:prstGeom>
        </p:spPr>
      </p:pic>
      <p:pic>
        <p:nvPicPr>
          <p:cNvPr id="8" name="Resim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27140" y="6055748"/>
            <a:ext cx="2527839" cy="763966"/>
          </a:xfrm>
          <a:prstGeom prst="rect">
            <a:avLst/>
          </a:prstGeom>
        </p:spPr>
      </p:pic>
    </p:spTree>
    <p:extLst>
      <p:ext uri="{BB962C8B-B14F-4D97-AF65-F5344CB8AC3E}">
        <p14:creationId xmlns:p14="http://schemas.microsoft.com/office/powerpoint/2010/main" val="353923310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Organik">
  <a:themeElements>
    <a:clrScheme name="Organik">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k">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k">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3.xml><?xml version="1.0" encoding="utf-8"?>
<a:theme xmlns:a="http://schemas.openxmlformats.org/drawingml/2006/main" name="1_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4.xml><?xml version="1.0" encoding="utf-8"?>
<a:theme xmlns:a="http://schemas.openxmlformats.org/drawingml/2006/main" name="2_Atlas">
  <a:themeElements>
    <a:clrScheme name="Atlas">
      <a:dk1>
        <a:sysClr val="windowText" lastClr="000000"/>
      </a:dk1>
      <a:lt1>
        <a:sysClr val="window" lastClr="FFFFFF"/>
      </a:lt1>
      <a:dk2>
        <a:srgbClr val="454545"/>
      </a:dk2>
      <a:lt2>
        <a:srgbClr val="E0E0E0"/>
      </a:lt2>
      <a:accent1>
        <a:srgbClr val="10B6F4"/>
      </a:accent1>
      <a:accent2>
        <a:srgbClr val="3C78C3"/>
      </a:accent2>
      <a:accent3>
        <a:srgbClr val="9F52D0"/>
      </a:accent3>
      <a:accent4>
        <a:srgbClr val="D64198"/>
      </a:accent4>
      <a:accent5>
        <a:srgbClr val="DA2228"/>
      </a:accent5>
      <a:accent6>
        <a:srgbClr val="F18318"/>
      </a:accent6>
      <a:hlink>
        <a:srgbClr val="38DDEC"/>
      </a:hlink>
      <a:folHlink>
        <a:srgbClr val="A8DEE8"/>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C0CB9708-C445-4049-9D7F-4C8684E69AF3}"/>
    </a:ext>
  </a:extLst>
</a:theme>
</file>

<file path=ppt/theme/theme5.xml><?xml version="1.0" encoding="utf-8"?>
<a:theme xmlns:a="http://schemas.openxmlformats.org/drawingml/2006/main" name="3_Atlas">
  <a:themeElements>
    <a:clrScheme name="Özel 2">
      <a:dk1>
        <a:sysClr val="windowText" lastClr="000000"/>
      </a:dk1>
      <a:lt1>
        <a:sysClr val="window" lastClr="FFFFFF"/>
      </a:lt1>
      <a:dk2>
        <a:srgbClr val="000000"/>
      </a:dk2>
      <a:lt2>
        <a:srgbClr val="F8F8F8"/>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919191"/>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C0EF0781-FB17-4F1F-B3B1-699933968CEA}"/>
    </a:ext>
  </a:extLst>
</a:theme>
</file>

<file path=ppt/theme/theme6.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arı">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2.xml><?xml version="1.0" encoding="utf-8"?>
<a:themeOverride xmlns:a="http://schemas.openxmlformats.org/drawingml/2006/main">
  <a:clrScheme name="Sarı">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themeOverride>
</file>

<file path=ppt/theme/themeOverride3.xml><?xml version="1.0" encoding="utf-8"?>
<a:themeOverride xmlns:a="http://schemas.openxmlformats.org/drawingml/2006/main">
  <a:clrScheme name="Yeşil">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4.xml><?xml version="1.0" encoding="utf-8"?>
<a:themeOverride xmlns:a="http://schemas.openxmlformats.org/drawingml/2006/main">
  <a:clrScheme name="Yeşil">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5.xml><?xml version="1.0" encoding="utf-8"?>
<a:themeOverride xmlns:a="http://schemas.openxmlformats.org/drawingml/2006/main">
  <a:clrScheme name="Mor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6.xml><?xml version="1.0" encoding="utf-8"?>
<a:themeOverride xmlns:a="http://schemas.openxmlformats.org/drawingml/2006/main">
  <a:clrScheme name="Mor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7.xml><?xml version="1.0" encoding="utf-8"?>
<a:themeOverride xmlns:a="http://schemas.openxmlformats.org/drawingml/2006/main">
  <a:clrScheme name="Turuncu">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8.xml><?xml version="1.0" encoding="utf-8"?>
<a:themeOverride xmlns:a="http://schemas.openxmlformats.org/drawingml/2006/main">
  <a:clrScheme name="Turuncu">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9.xml><?xml version="1.0" encoding="utf-8"?>
<a:themeOverride xmlns:a="http://schemas.openxmlformats.org/drawingml/2006/main">
  <a:clrScheme name="Kırmızı Mor">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themeOverride>
</file>

<file path=ppt/theme/themeOverride10.xml><?xml version="1.0" encoding="utf-8"?>
<a:themeOverride xmlns:a="http://schemas.openxmlformats.org/drawingml/2006/main">
  <a:clrScheme name="Kırmızı Mor">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themeOverride>
</file>

<file path=ppt/theme/themeOverride11.xml><?xml version="1.0" encoding="utf-8"?>
<a:themeOverride xmlns:a="http://schemas.openxmlformats.org/drawingml/2006/main">
  <a:clrScheme name="Özel 1">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12.xml><?xml version="1.0" encoding="utf-8"?>
<a:themeOverride xmlns:a="http://schemas.openxmlformats.org/drawingml/2006/main">
  <a:clrScheme name="Özel 1">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13.xml><?xml version="1.0" encoding="utf-8"?>
<a:themeOverride xmlns:a="http://schemas.openxmlformats.org/drawingml/2006/main">
  <a:clrScheme name="Gri Tonlamalı">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14.xml><?xml version="1.0" encoding="utf-8"?>
<a:themeOverride xmlns:a="http://schemas.openxmlformats.org/drawingml/2006/main">
  <a:clrScheme name="Özel 1">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ppt/theme/themeOverride15.xml><?xml version="1.0" encoding="utf-8"?>
<a:themeOverride xmlns:a="http://schemas.openxmlformats.org/drawingml/2006/main">
  <a:clrScheme name="Kırmızı">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themeOverride>
</file>

<file path=ppt/theme/themeOverride16.xml><?xml version="1.0" encoding="utf-8"?>
<a:themeOverride xmlns:a="http://schemas.openxmlformats.org/drawingml/2006/main">
  <a:clrScheme name="Kırmızı">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themeOverride>
</file>

<file path=docProps/app.xml><?xml version="1.0" encoding="utf-8"?>
<Properties xmlns="http://schemas.openxmlformats.org/officeDocument/2006/extended-properties" xmlns:vt="http://schemas.openxmlformats.org/officeDocument/2006/docPropsVTypes">
  <Template>Organic</Template>
  <TotalTime>330</TotalTime>
  <Words>2735</Words>
  <Application>Microsoft Office PowerPoint</Application>
  <PresentationFormat>Geniş ekran</PresentationFormat>
  <Paragraphs>154</Paragraphs>
  <Slides>23</Slides>
  <Notes>0</Notes>
  <HiddenSlides>0</HiddenSlides>
  <MMClips>0</MMClips>
  <ScaleCrop>false</ScaleCrop>
  <HeadingPairs>
    <vt:vector size="6" baseType="variant">
      <vt:variant>
        <vt:lpstr>Kullanılan Yazı Tipleri</vt:lpstr>
      </vt:variant>
      <vt:variant>
        <vt:i4>6</vt:i4>
      </vt:variant>
      <vt:variant>
        <vt:lpstr>Tema</vt:lpstr>
      </vt:variant>
      <vt:variant>
        <vt:i4>5</vt:i4>
      </vt:variant>
      <vt:variant>
        <vt:lpstr>Slayt Başlıkları</vt:lpstr>
      </vt:variant>
      <vt:variant>
        <vt:i4>23</vt:i4>
      </vt:variant>
    </vt:vector>
  </HeadingPairs>
  <TitlesOfParts>
    <vt:vector size="34" baseType="lpstr">
      <vt:lpstr>Arial</vt:lpstr>
      <vt:lpstr>Calibri</vt:lpstr>
      <vt:lpstr>Calibri Light</vt:lpstr>
      <vt:lpstr>Garamond</vt:lpstr>
      <vt:lpstr>Rockwell</vt:lpstr>
      <vt:lpstr>Wingdings</vt:lpstr>
      <vt:lpstr>1_Organik</vt:lpstr>
      <vt:lpstr>Atlas</vt:lpstr>
      <vt:lpstr>1_Atlas</vt:lpstr>
      <vt:lpstr>2_Atlas</vt:lpstr>
      <vt:lpstr>3_Atlas</vt:lpstr>
      <vt:lpstr>RENKLERİN ANLAMI   </vt:lpstr>
      <vt:lpstr>KIRMIZI</vt:lpstr>
      <vt:lpstr>KIRMIZI RENGİNİ KULLANAN POPÜLER FİRMALAR</vt:lpstr>
      <vt:lpstr>MAVİ</vt:lpstr>
      <vt:lpstr>MAVİ RENGİNİ KULLANAN POPÜLER  FİRMALAR </vt:lpstr>
      <vt:lpstr>Sarı</vt:lpstr>
      <vt:lpstr>SARI RENGİNİ KULLANAN POPÜLER  FİRMALAR </vt:lpstr>
      <vt:lpstr>YEŞİL</vt:lpstr>
      <vt:lpstr>YEŞİL RENGİNİ KULLANAN POPÜLER FİRMALAR</vt:lpstr>
      <vt:lpstr>MOR</vt:lpstr>
      <vt:lpstr>MOR RENGİNİ KULLANAN POPÜLER FİRMALAR</vt:lpstr>
      <vt:lpstr>TURUNCU</vt:lpstr>
      <vt:lpstr>TURUNCU RENGİNİ KULLANAN POPÜLER FİRMALAR</vt:lpstr>
      <vt:lpstr>PEMBE</vt:lpstr>
      <vt:lpstr>PEMBE RENGİNİ KULLANAN POPÜLER FİRMALAR</vt:lpstr>
      <vt:lpstr>GRİ</vt:lpstr>
      <vt:lpstr>GRİ RENGİNİ KULLANAN POPÜLER FİRMALAR</vt:lpstr>
      <vt:lpstr>SİYAH</vt:lpstr>
      <vt:lpstr>SİYAH RENGİNİ KULLANAN FİRMALAR</vt:lpstr>
      <vt:lpstr>BEYAZ</vt:lpstr>
      <vt:lpstr>BEYAZ RENGİNİ KULLANAN POPÜLER FİRMALAR</vt:lpstr>
      <vt:lpstr>KAHVERENGİ</vt:lpstr>
      <vt:lpstr>KAHVERENGİ RENGİNİ KULLANAN POPÜLER FİRMALAR</vt:lpstr>
    </vt:vector>
  </TitlesOfParts>
  <Company>NouS/TncTR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RENKLERİN ANLAMI</dc:title>
  <dc:creator>Ensar</dc:creator>
  <cp:lastModifiedBy>Ensar</cp:lastModifiedBy>
  <cp:revision>27</cp:revision>
  <dcterms:created xsi:type="dcterms:W3CDTF">2025-03-14T09:52:38Z</dcterms:created>
  <dcterms:modified xsi:type="dcterms:W3CDTF">2025-03-14T15:23:07Z</dcterms:modified>
</cp:coreProperties>
</file>